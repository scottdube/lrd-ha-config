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Frame as a journey of being wrong then being right. ~10-15 min total + Q&amp;A.
Opening line idea: 'I want to walk you through a project where I followed a popular piece of internet wisdom down the wrong path, then dug myself out with a bench experiment. Pool float, ESP32-C6, deep sleep current.'
Anchor on the three numbers: 15 / 89 / 333. If I get lost mid-talk, come back to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float drifts in the pool while I'm in NH for the summer. Every microamp matters because cell capacity is finite.
Optional aside if it lands: 'I built this because the OmniLogic in-pool temp probe reads unknown whenever the filter pump is off, which is most of the night. Independent sensor closes the gap.'
Don't dwell on the specs — they're just the setup. Move to the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big numbers, one question. Pause here.
The amber 381 is what I measured on the deployed float. The teal 15 is what the Seeed forum's BASIC example says you can hit on a stock C6.
Land the line: 'Where's the missing 365 µA going?' This is the hook for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honestly. Don't be defensive about being wrong.
The forum thread is real, the math nearly fit, the symptom matched. I bought it. The audience respects honesty — self-correction is the credibility move.
The transition line at the bottom (Then a fresh C6 arrived...) sets up the bench work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methodology slide. 'One variable per test' is the line to deliver — it's what makes the matrix possible.
Fresh stock C6 means no modifications — exact same hardware anyone in the room could buy. PPK2 in Source Meter mode means it's BOTH the power source AND the current meter — sources 3.3 V and measures every microamp going in.
Pause briefly on the photo so the audience can see the physical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TALK. Slow down here.
Walk down the table row by row:
- Row 1 (15.66 µA): 'Stock C6, minimal firmware. This kills the voltage trap theory right here.'
- Row 2 (15.66 µA): 'Same board, but now with the full pool float firmware loaded — ADC sensors configured, lambdas in place. Nothing wired up yet. Still 15. So the firmware alone isn't the problem.'
- Row 3 (333.77 µA): 'Now I add just the resistor divider. The thing that reads the NTC temperature. Boom — 10x jump.'
- Row 4 (89.51 µA): 'The fix — I'll explain in two slides. Recover 244 µA.'
- Rows 5-7: 'I tried three more things to drop the last 74 µA. Nothing moved it. That tells me what's left is chip-level.'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'voltage trap is dead' punchline. One big number on the slide. PAUSE.
This is the moment the audience realizes the forum was wrong and that the matrix structure was the point of the methodology.
Land the question at the bottom: 'So where is my 365 µA going?' That sets up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math vs the measurement. The point: passive Ohm's-law math is off by 10x. Something else is going on.
BE CAREFUL: I do NOT know the exact mechanism. My best read is something in the ADC pin's input frontend is loading the divider, but I haven't measured it directly. If a real EE in the room knows, I want to hear it. HOLD LOOSELY.
This is one of two slides where I explicitly flag inference vs measurement. The audience will respect the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89 µA tests. Same number every time. Whatever this is, it's chip-level — independent of channels, attenuation, pin connections.
My READ is that initializing the ADC peripheral in ESP-IDF keeps some reference circuit biased. Untested but plausible — adc_oneshot_del_unit() before sleep would test it. I didn't try. If anyone in the room wants to take that experiment, the setup is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I'LL FORGET BY NEXT FALL. Re-read the prep notes doc before presenting.
A LAMBDA is a small block of C++ code dropped into the ESPHome YAML as an escape hatch. The word means 'small anonymous function' — chunk of code attached to an event ('when the device boots', 'before deep sleep') rather than to a name.
The two lambdas:
On WAKE (on_boot priority-800, runs VERY early in boot):
- gpio_hold_dis = release the 'freeze' we put on GPIO2 before sleep
- gpio_reset_pin = clear leftover config, fresh start
- gpio_set_direction = tell the chip we're driving the pin (not reading)
- gpio_set_level((gpio_num_t)2, 1) = pin HIGH (3.3 V), powers the divider so ADC can read
Before SLEEP:
- gpio_set_level((gpio_num_t)2, 0) = pin LOW (0 V), no voltage across divider, no current
- gpio_hold_en = FREEZE the pin in LOW state so chip can't reset it during deep sleep
The (gpio_num_t)2 syntax is a TYPE CAST required by the ESP-IDF API. Tells compiler 'treat the number 2 as a gpio_num_t identifier.' Pedantic but the API requires it.
The whole point: GPIO2 acts like a SWITCH on top of the divider. Powered briefly during wake, dark for the rest of the time.
Why GPIO2? On the ESP32-C6, pins 0-7 are 'RTC-capable' — they can be controlled by the always-on RTC subsystem (the part that stays powered during deep sleep). GPIO2 is in that range and was free. 20 mA default drive strength, divider draws 35 µA, 500x headroom.
Don't read the code aloud. Highlight the pattern: HIGH on wake, LOW + hold on 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vs after. 287 days to 668 days.
Reassuring framing: 'For context, my unattended window is 138 days. The original design clears that with margin. The fix doubles that margin.' Nothing was broken in deployment — the fix is a bonus, not a save.
Floor note at the bottom: full ADC deinit could push runtime past 1000 days. Untested. Throw it as an open challenge to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takeaway #4 — facts solid, explanations inferred, honest about the difference. That's the methodology message the audience can reuse.
Then 'Questions?'
Anticipated Q&amp;A (full list in the prep notes doc):
- Why not DS18B20? Case reuse history. For new builds, yes.
- Did you try adc_oneshot_del_unit()? Not yet. Obvious next experiment.
- How sure are you about ADC frontend loading? Not very. Measurement is solid, explanation is inferred.
- Did you try lower ADC attenuation? Yes, 6 dB vs 12 dB. Same 89 µA.
- PPK2 cost? $179. Paid for itself in one afternoon of this debug.
- Is deployed float fixed? No, running old design with 287-day projection. Fix lands at next maintenance pull.
- Can I get the code? Yes, scottdube/lrd-ha-config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548640" y="1280160"/>
            <a:ext cx="7772400" cy="1097280"/>
          </a:xfrm>
          <a:prstGeom prst="rect">
            <a:avLst/>
          </a:prstGeom>
          <a:noFill/>
          <a:ln/>
        </p:spPr>
        <p:txBody>
          <a:bodyPr wrap="square" lIns="0" tIns="0" rIns="0" bIns="0" rtlCol="0" anchor="ctr"/>
          <a:lstStyle/>
          <a:p>
            <a:pPr indent="0" marL="0">
              <a:buNone/>
            </a:pPr>
            <a:r>
              <a:rPr lang="en-US" sz="6000" b="1" dirty="0">
                <a:solidFill>
                  <a:srgbClr val="F1F5F9"/>
                </a:solidFill>
                <a:latin typeface="Calibri" pitchFamily="34" charset="0"/>
                <a:ea typeface="Calibri" pitchFamily="34" charset="-122"/>
                <a:cs typeface="Calibri" pitchFamily="34" charset="-120"/>
              </a:rPr>
              <a:t>Chasing 365 µA</a:t>
            </a:r>
            <a:endParaRPr lang="en-US" sz="6000" dirty="0"/>
          </a:p>
        </p:txBody>
      </p:sp>
      <p:sp>
        <p:nvSpPr>
          <p:cNvPr id="4" name="Text 2"/>
          <p:cNvSpPr/>
          <p:nvPr/>
        </p:nvSpPr>
        <p:spPr>
          <a:xfrm>
            <a:off x="548640" y="2331720"/>
            <a:ext cx="7772400" cy="548640"/>
          </a:xfrm>
          <a:prstGeom prst="rect">
            <a:avLst/>
          </a:prstGeom>
          <a:noFill/>
          <a:ln/>
        </p:spPr>
        <p:txBody>
          <a:bodyPr wrap="square" lIns="0" tIns="0" rIns="0" bIns="0" rtlCol="0" anchor="ctr"/>
          <a:lstStyle/>
          <a:p>
            <a:pPr indent="0" marL="0">
              <a:buNone/>
            </a:pPr>
            <a:r>
              <a:rPr lang="en-US" sz="2400" dirty="0">
                <a:solidFill>
                  <a:srgbClr val="14B8A6"/>
                </a:solidFill>
                <a:latin typeface="Calibri" pitchFamily="34" charset="0"/>
                <a:ea typeface="Calibri" pitchFamily="34" charset="-122"/>
                <a:cs typeface="Calibri" pitchFamily="34" charset="-120"/>
              </a:rPr>
              <a:t>Debugging a XIAO ESP32-C6 deep sleep mystery</a:t>
            </a:r>
            <a:endParaRPr lang="en-US" sz="2400" dirty="0"/>
          </a:p>
        </p:txBody>
      </p:sp>
      <p:sp>
        <p:nvSpPr>
          <p:cNvPr id="5" name="Text 3"/>
          <p:cNvSpPr/>
          <p:nvPr/>
        </p:nvSpPr>
        <p:spPr>
          <a:xfrm>
            <a:off x="548640" y="2880360"/>
            <a:ext cx="7772400" cy="45720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A pool-float power story — wrong theory, controlled bench, real answer</a:t>
            </a:r>
            <a:endParaRPr lang="en-US" sz="1600" dirty="0"/>
          </a:p>
        </p:txBody>
      </p:sp>
      <p:sp>
        <p:nvSpPr>
          <p:cNvPr id="6" name="Text 4"/>
          <p:cNvSpPr/>
          <p:nvPr/>
        </p:nvSpPr>
        <p:spPr>
          <a:xfrm>
            <a:off x="548640" y="4297680"/>
            <a:ext cx="77724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Scott Dube  •  Hands-On Tech / Small Computers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800" b="1" dirty="0">
                <a:solidFill>
                  <a:srgbClr val="1E293B"/>
                </a:solidFill>
                <a:latin typeface="Calibri" pitchFamily="34" charset="0"/>
                <a:ea typeface="Calibri" pitchFamily="34" charset="-122"/>
                <a:cs typeface="Calibri" pitchFamily="34" charset="-120"/>
              </a:rPr>
              <a:t>The project</a:t>
            </a:r>
            <a:endParaRPr lang="en-US" sz="3800" dirty="0"/>
          </a:p>
        </p:txBody>
      </p:sp>
      <p:sp>
        <p:nvSpPr>
          <p:cNvPr id="4" name="Text 2"/>
          <p:cNvSpPr/>
          <p:nvPr/>
        </p:nvSpPr>
        <p:spPr>
          <a:xfrm>
            <a:off x="457200" y="1097280"/>
            <a:ext cx="8229600" cy="54864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A battery-powered pool water-temperature sensor that has to survive 138 days unattended each summer</a:t>
            </a:r>
            <a:endParaRPr lang="en-US" sz="1600" dirty="0"/>
          </a:p>
        </p:txBody>
      </p:sp>
      <p:sp>
        <p:nvSpPr>
          <p:cNvPr id="5" name="Text 3"/>
          <p:cNvSpPr/>
          <p:nvPr/>
        </p:nvSpPr>
        <p:spPr>
          <a:xfrm>
            <a:off x="457200" y="1920240"/>
            <a:ext cx="118872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MCU</a:t>
            </a:r>
            <a:endParaRPr lang="en-US" sz="1200" dirty="0"/>
          </a:p>
        </p:txBody>
      </p:sp>
      <p:sp>
        <p:nvSpPr>
          <p:cNvPr id="6" name="Text 4"/>
          <p:cNvSpPr/>
          <p:nvPr/>
        </p:nvSpPr>
        <p:spPr>
          <a:xfrm>
            <a:off x="1737360" y="1920240"/>
            <a:ext cx="3291840" cy="3200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XIAO ESP32-C6 (low-power WiFi)</a:t>
            </a:r>
            <a:endParaRPr lang="en-US" sz="1300" dirty="0"/>
          </a:p>
        </p:txBody>
      </p:sp>
      <p:sp>
        <p:nvSpPr>
          <p:cNvPr id="7" name="Text 5"/>
          <p:cNvSpPr/>
          <p:nvPr/>
        </p:nvSpPr>
        <p:spPr>
          <a:xfrm>
            <a:off x="457200" y="2286000"/>
            <a:ext cx="118872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Sensor</a:t>
            </a:r>
            <a:endParaRPr lang="en-US" sz="1200" dirty="0"/>
          </a:p>
        </p:txBody>
      </p:sp>
      <p:sp>
        <p:nvSpPr>
          <p:cNvPr id="8" name="Text 6"/>
          <p:cNvSpPr/>
          <p:nvPr/>
        </p:nvSpPr>
        <p:spPr>
          <a:xfrm>
            <a:off x="1737360" y="2286000"/>
            <a:ext cx="3291840" cy="3200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NTC thermistor + 47 kΩ reference on GPIO1</a:t>
            </a:r>
            <a:endParaRPr lang="en-US" sz="1300" dirty="0"/>
          </a:p>
        </p:txBody>
      </p:sp>
      <p:sp>
        <p:nvSpPr>
          <p:cNvPr id="9" name="Text 7"/>
          <p:cNvSpPr/>
          <p:nvPr/>
        </p:nvSpPr>
        <p:spPr>
          <a:xfrm>
            <a:off x="457200" y="2651760"/>
            <a:ext cx="118872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Power</a:t>
            </a:r>
            <a:endParaRPr lang="en-US" sz="1200" dirty="0"/>
          </a:p>
        </p:txBody>
      </p:sp>
      <p:sp>
        <p:nvSpPr>
          <p:cNvPr id="10" name="Text 8"/>
          <p:cNvSpPr/>
          <p:nvPr/>
        </p:nvSpPr>
        <p:spPr>
          <a:xfrm>
            <a:off x="1737360" y="2651760"/>
            <a:ext cx="3291840" cy="3200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2× L91 lithium AA in series (3.0–3.4 V)</a:t>
            </a:r>
            <a:endParaRPr lang="en-US" sz="1300" dirty="0"/>
          </a:p>
        </p:txBody>
      </p:sp>
      <p:sp>
        <p:nvSpPr>
          <p:cNvPr id="11" name="Text 9"/>
          <p:cNvSpPr/>
          <p:nvPr/>
        </p:nvSpPr>
        <p:spPr>
          <a:xfrm>
            <a:off x="457200" y="3017520"/>
            <a:ext cx="118872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Cadence</a:t>
            </a:r>
            <a:endParaRPr lang="en-US" sz="1200" dirty="0"/>
          </a:p>
        </p:txBody>
      </p:sp>
      <p:sp>
        <p:nvSpPr>
          <p:cNvPr id="12" name="Text 10"/>
          <p:cNvSpPr/>
          <p:nvPr/>
        </p:nvSpPr>
        <p:spPr>
          <a:xfrm>
            <a:off x="1737360" y="3017520"/>
            <a:ext cx="3291840" cy="3200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Deep sleep, wake every 30 minutes, publish to HA</a:t>
            </a:r>
            <a:endParaRPr lang="en-US" sz="1300" dirty="0"/>
          </a:p>
        </p:txBody>
      </p:sp>
      <p:sp>
        <p:nvSpPr>
          <p:cNvPr id="13" name="Text 11"/>
          <p:cNvSpPr/>
          <p:nvPr/>
        </p:nvSpPr>
        <p:spPr>
          <a:xfrm>
            <a:off x="457200" y="3383280"/>
            <a:ext cx="118872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Antenna</a:t>
            </a:r>
            <a:endParaRPr lang="en-US" sz="1200" dirty="0"/>
          </a:p>
        </p:txBody>
      </p:sp>
      <p:sp>
        <p:nvSpPr>
          <p:cNvPr id="14" name="Text 12"/>
          <p:cNvSpPr/>
          <p:nvPr/>
        </p:nvSpPr>
        <p:spPr>
          <a:xfrm>
            <a:off x="1737360" y="3383280"/>
            <a:ext cx="3291840" cy="3200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U.FL external (case-internal)</a:t>
            </a:r>
            <a:endParaRPr lang="en-US" sz="1300" dirty="0"/>
          </a:p>
        </p:txBody>
      </p:sp>
      <p:sp>
        <p:nvSpPr>
          <p:cNvPr id="15" name="Text 13"/>
          <p:cNvSpPr/>
          <p:nvPr/>
        </p:nvSpPr>
        <p:spPr>
          <a:xfrm>
            <a:off x="457200" y="3749040"/>
            <a:ext cx="118872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Constraint</a:t>
            </a:r>
            <a:endParaRPr lang="en-US" sz="1200" dirty="0"/>
          </a:p>
        </p:txBody>
      </p:sp>
      <p:sp>
        <p:nvSpPr>
          <p:cNvPr id="16" name="Text 14"/>
          <p:cNvSpPr/>
          <p:nvPr/>
        </p:nvSpPr>
        <p:spPr>
          <a:xfrm>
            <a:off x="1737360" y="3749040"/>
            <a:ext cx="3291840" cy="3200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138 days unattended — sleep current matters</a:t>
            </a:r>
            <a:endParaRPr lang="en-US" sz="1300" dirty="0"/>
          </a:p>
        </p:txBody>
      </p:sp>
      <p:sp>
        <p:nvSpPr>
          <p:cNvPr id="17" name="Shape 15"/>
          <p:cNvSpPr/>
          <p:nvPr/>
        </p:nvSpPr>
        <p:spPr>
          <a:xfrm>
            <a:off x="5029200" y="1920240"/>
            <a:ext cx="3657600" cy="2377440"/>
          </a:xfrm>
          <a:prstGeom prst="rect">
            <a:avLst/>
          </a:prstGeom>
          <a:solidFill>
            <a:srgbClr val="F1F5F9"/>
          </a:solidFill>
          <a:ln w="12700">
            <a:solidFill>
              <a:srgbClr val="E2E8F0"/>
            </a:solidFill>
            <a:prstDash val="dash"/>
          </a:ln>
        </p:spPr>
      </p:sp>
      <p:sp>
        <p:nvSpPr>
          <p:cNvPr id="18" name="Text 16"/>
          <p:cNvSpPr/>
          <p:nvPr/>
        </p:nvSpPr>
        <p:spPr>
          <a:xfrm>
            <a:off x="5212080" y="2926080"/>
            <a:ext cx="329184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Insert: photo of the float in the pool</a:t>
            </a:r>
            <a:endParaRPr lang="en-US" sz="1100" dirty="0"/>
          </a:p>
        </p:txBody>
      </p:sp>
      <p:sp>
        <p:nvSpPr>
          <p:cNvPr id="19" name="Text 17"/>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12</a:t>
            </a:r>
            <a:endParaRPr lang="en-US" sz="900" dirty="0"/>
          </a:p>
        </p:txBody>
      </p:sp>
      <p:sp>
        <p:nvSpPr>
          <p:cNvPr id="20" name="Text 18"/>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800" b="1" dirty="0">
                <a:solidFill>
                  <a:srgbClr val="1E293B"/>
                </a:solidFill>
                <a:latin typeface="Calibri" pitchFamily="34" charset="0"/>
                <a:ea typeface="Calibri" pitchFamily="34" charset="-122"/>
                <a:cs typeface="Calibri" pitchFamily="34" charset="-120"/>
              </a:rPr>
              <a:t>The symptom</a:t>
            </a:r>
            <a:endParaRPr lang="en-US" sz="3800" dirty="0"/>
          </a:p>
        </p:txBody>
      </p:sp>
      <p:sp>
        <p:nvSpPr>
          <p:cNvPr id="4" name="Text 2"/>
          <p:cNvSpPr/>
          <p:nvPr/>
        </p:nvSpPr>
        <p:spPr>
          <a:xfrm>
            <a:off x="457200" y="1097280"/>
            <a:ext cx="822960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Deployed float was drawing way more current in deep sleep than it should</a:t>
            </a:r>
            <a:endParaRPr lang="en-US" sz="1600" dirty="0"/>
          </a:p>
        </p:txBody>
      </p:sp>
      <p:sp>
        <p:nvSpPr>
          <p:cNvPr id="5" name="Text 3"/>
          <p:cNvSpPr/>
          <p:nvPr/>
        </p:nvSpPr>
        <p:spPr>
          <a:xfrm>
            <a:off x="548640" y="1920240"/>
            <a:ext cx="3931920" cy="1463040"/>
          </a:xfrm>
          <a:prstGeom prst="rect">
            <a:avLst/>
          </a:prstGeom>
          <a:noFill/>
          <a:ln/>
        </p:spPr>
        <p:txBody>
          <a:bodyPr wrap="square" lIns="0" tIns="0" rIns="0" bIns="0" rtlCol="0" anchor="ctr"/>
          <a:lstStyle/>
          <a:p>
            <a:pPr algn="ctr" indent="0" marL="0">
              <a:buNone/>
            </a:pPr>
            <a:r>
              <a:rPr lang="en-US" sz="9600" b="1" dirty="0">
                <a:solidFill>
                  <a:srgbClr val="F59E0B"/>
                </a:solidFill>
                <a:latin typeface="Calibri" pitchFamily="34" charset="0"/>
                <a:ea typeface="Calibri" pitchFamily="34" charset="-122"/>
                <a:cs typeface="Calibri" pitchFamily="34" charset="-120"/>
              </a:rPr>
              <a:t>381 µA</a:t>
            </a:r>
            <a:endParaRPr lang="en-US" sz="9600" dirty="0"/>
          </a:p>
        </p:txBody>
      </p:sp>
      <p:sp>
        <p:nvSpPr>
          <p:cNvPr id="6" name="Text 4"/>
          <p:cNvSpPr/>
          <p:nvPr/>
        </p:nvSpPr>
        <p:spPr>
          <a:xfrm>
            <a:off x="548640" y="3291840"/>
            <a:ext cx="3931920" cy="365760"/>
          </a:xfrm>
          <a:prstGeom prst="rect">
            <a:avLst/>
          </a:prstGeom>
          <a:noFill/>
          <a:ln/>
        </p:spPr>
        <p:txBody>
          <a:bodyPr wrap="square" lIns="0" tIns="0" rIns="0" bIns="0" rtlCol="0" anchor="ctr"/>
          <a:lstStyle/>
          <a:p>
            <a:pPr algn="ctr" indent="0" marL="0">
              <a:buNone/>
            </a:pPr>
            <a:r>
              <a:rPr lang="en-US" sz="1200" b="1" spc="400" kern="0" dirty="0">
                <a:solidFill>
                  <a:srgbClr val="64748B"/>
                </a:solidFill>
                <a:latin typeface="Calibri" pitchFamily="34" charset="0"/>
                <a:ea typeface="Calibri" pitchFamily="34" charset="-122"/>
                <a:cs typeface="Calibri" pitchFamily="34" charset="-120"/>
              </a:rPr>
              <a:t>OBSERVED</a:t>
            </a:r>
            <a:endParaRPr lang="en-US" sz="1200" dirty="0"/>
          </a:p>
        </p:txBody>
      </p:sp>
      <p:sp>
        <p:nvSpPr>
          <p:cNvPr id="7" name="Text 5"/>
          <p:cNvSpPr/>
          <p:nvPr/>
        </p:nvSpPr>
        <p:spPr>
          <a:xfrm>
            <a:off x="548640" y="3611880"/>
            <a:ext cx="3931920" cy="365760"/>
          </a:xfrm>
          <a:prstGeom prst="rect">
            <a:avLst/>
          </a:prstGeom>
          <a:noFill/>
          <a:ln/>
        </p:spPr>
        <p:txBody>
          <a:bodyPr wrap="square" lIns="0" tIns="0" rIns="0" bIns="0" rtlCol="0" anchor="ctr"/>
          <a:lstStyle/>
          <a:p>
            <a:pPr algn="ctr" indent="0" marL="0">
              <a:buNone/>
            </a:pPr>
            <a:r>
              <a:rPr lang="en-US" sz="1300" i="1" dirty="0">
                <a:solidFill>
                  <a:srgbClr val="1F2937"/>
                </a:solidFill>
                <a:latin typeface="Calibri" pitchFamily="34" charset="0"/>
                <a:ea typeface="Calibri" pitchFamily="34" charset="-122"/>
                <a:cs typeface="Calibri" pitchFamily="34" charset="-120"/>
              </a:rPr>
              <a:t>on the deployed modded float</a:t>
            </a:r>
            <a:endParaRPr lang="en-US" sz="1300" dirty="0"/>
          </a:p>
        </p:txBody>
      </p:sp>
      <p:sp>
        <p:nvSpPr>
          <p:cNvPr id="8" name="Text 6"/>
          <p:cNvSpPr/>
          <p:nvPr/>
        </p:nvSpPr>
        <p:spPr>
          <a:xfrm>
            <a:off x="4663440" y="1920240"/>
            <a:ext cx="3931920" cy="1463040"/>
          </a:xfrm>
          <a:prstGeom prst="rect">
            <a:avLst/>
          </a:prstGeom>
          <a:noFill/>
          <a:ln/>
        </p:spPr>
        <p:txBody>
          <a:bodyPr wrap="square" lIns="0" tIns="0" rIns="0" bIns="0" rtlCol="0" anchor="ctr"/>
          <a:lstStyle/>
          <a:p>
            <a:pPr algn="ctr" indent="0" marL="0">
              <a:buNone/>
            </a:pPr>
            <a:r>
              <a:rPr lang="en-US" sz="9600" b="1" dirty="0">
                <a:solidFill>
                  <a:srgbClr val="14B8A6"/>
                </a:solidFill>
                <a:latin typeface="Calibri" pitchFamily="34" charset="0"/>
                <a:ea typeface="Calibri" pitchFamily="34" charset="-122"/>
                <a:cs typeface="Calibri" pitchFamily="34" charset="-120"/>
              </a:rPr>
              <a:t>~15 µA</a:t>
            </a:r>
            <a:endParaRPr lang="en-US" sz="9600" dirty="0"/>
          </a:p>
        </p:txBody>
      </p:sp>
      <p:sp>
        <p:nvSpPr>
          <p:cNvPr id="9" name="Text 7"/>
          <p:cNvSpPr/>
          <p:nvPr/>
        </p:nvSpPr>
        <p:spPr>
          <a:xfrm>
            <a:off x="4663440" y="3291840"/>
            <a:ext cx="3931920" cy="365760"/>
          </a:xfrm>
          <a:prstGeom prst="rect">
            <a:avLst/>
          </a:prstGeom>
          <a:noFill/>
          <a:ln/>
        </p:spPr>
        <p:txBody>
          <a:bodyPr wrap="square" lIns="0" tIns="0" rIns="0" bIns="0" rtlCol="0" anchor="ctr"/>
          <a:lstStyle/>
          <a:p>
            <a:pPr algn="ctr" indent="0" marL="0">
              <a:buNone/>
            </a:pPr>
            <a:r>
              <a:rPr lang="en-US" sz="1200" b="1" spc="400" kern="0" dirty="0">
                <a:solidFill>
                  <a:srgbClr val="64748B"/>
                </a:solidFill>
                <a:latin typeface="Calibri" pitchFamily="34" charset="0"/>
                <a:ea typeface="Calibri" pitchFamily="34" charset="-122"/>
                <a:cs typeface="Calibri" pitchFamily="34" charset="-120"/>
              </a:rPr>
              <a:t>TARGET</a:t>
            </a:r>
            <a:endParaRPr lang="en-US" sz="1200" dirty="0"/>
          </a:p>
        </p:txBody>
      </p:sp>
      <p:sp>
        <p:nvSpPr>
          <p:cNvPr id="10" name="Text 8"/>
          <p:cNvSpPr/>
          <p:nvPr/>
        </p:nvSpPr>
        <p:spPr>
          <a:xfrm>
            <a:off x="4663440" y="3611880"/>
            <a:ext cx="3931920" cy="365760"/>
          </a:xfrm>
          <a:prstGeom prst="rect">
            <a:avLst/>
          </a:prstGeom>
          <a:noFill/>
          <a:ln/>
        </p:spPr>
        <p:txBody>
          <a:bodyPr wrap="square" lIns="0" tIns="0" rIns="0" bIns="0" rtlCol="0" anchor="ctr"/>
          <a:lstStyle/>
          <a:p>
            <a:pPr algn="ctr" indent="0" marL="0">
              <a:buNone/>
            </a:pPr>
            <a:r>
              <a:rPr lang="en-US" sz="1300" i="1" dirty="0">
                <a:solidFill>
                  <a:srgbClr val="1F2937"/>
                </a:solidFill>
                <a:latin typeface="Calibri" pitchFamily="34" charset="0"/>
                <a:ea typeface="Calibri" pitchFamily="34" charset="-122"/>
                <a:cs typeface="Calibri" pitchFamily="34" charset="-120"/>
              </a:rPr>
              <a:t>per the Seeed forum's BASIC example</a:t>
            </a:r>
            <a:endParaRPr lang="en-US" sz="1300" dirty="0"/>
          </a:p>
        </p:txBody>
      </p:sp>
      <p:sp>
        <p:nvSpPr>
          <p:cNvPr id="11" name="Text 9"/>
          <p:cNvSpPr/>
          <p:nvPr/>
        </p:nvSpPr>
        <p:spPr>
          <a:xfrm>
            <a:off x="457200" y="4160520"/>
            <a:ext cx="8229600" cy="457200"/>
          </a:xfrm>
          <a:prstGeom prst="rect">
            <a:avLst/>
          </a:prstGeom>
          <a:noFill/>
          <a:ln/>
        </p:spPr>
        <p:txBody>
          <a:bodyPr wrap="square" lIns="0" tIns="0" rIns="0" bIns="0" rtlCol="0" anchor="ctr"/>
          <a:lstStyle/>
          <a:p>
            <a:pPr algn="ctr" indent="0" marL="0">
              <a:buNone/>
            </a:pPr>
            <a:r>
              <a:rPr lang="en-US" sz="1800" i="1" dirty="0">
                <a:solidFill>
                  <a:srgbClr val="1E293B"/>
                </a:solidFill>
                <a:latin typeface="Calibri" pitchFamily="34" charset="0"/>
                <a:ea typeface="Calibri" pitchFamily="34" charset="-122"/>
                <a:cs typeface="Calibri" pitchFamily="34" charset="-120"/>
              </a:rPr>
              <a:t>Missing 365 µA. Where is it going?</a:t>
            </a:r>
            <a:endParaRPr lang="en-US" sz="1800" dirty="0"/>
          </a:p>
        </p:txBody>
      </p:sp>
      <p:sp>
        <p:nvSpPr>
          <p:cNvPr id="12" name="Text 10"/>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12</a:t>
            </a:r>
            <a:endParaRPr lang="en-US" sz="900" dirty="0"/>
          </a:p>
        </p:txBody>
      </p:sp>
      <p:sp>
        <p:nvSpPr>
          <p:cNvPr id="13" name="Text 11"/>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The theory I bought (yesterday)</a:t>
            </a:r>
            <a:endParaRPr lang="en-US" sz="3600" dirty="0"/>
          </a:p>
        </p:txBody>
      </p:sp>
      <p:sp>
        <p:nvSpPr>
          <p:cNvPr id="4" name="Text 2"/>
          <p:cNvSpPr/>
          <p:nvPr/>
        </p:nvSpPr>
        <p:spPr>
          <a:xfrm>
            <a:off x="457200" y="1097280"/>
            <a:ext cx="8229600" cy="548640"/>
          </a:xfrm>
          <a:prstGeom prst="rect">
            <a:avLst/>
          </a:prstGeom>
          <a:noFill/>
          <a:ln/>
        </p:spPr>
        <p:txBody>
          <a:bodyPr wrap="square" lIns="0" tIns="0" rIns="0" bIns="0" rtlCol="0" anchor="ctr"/>
          <a:lstStyle/>
          <a:p>
            <a:pPr indent="0" marL="0">
              <a:buNone/>
            </a:pPr>
            <a:r>
              <a:rPr lang="en-US" sz="2200" i="1" dirty="0">
                <a:solidFill>
                  <a:srgbClr val="F59E0B"/>
                </a:solidFill>
                <a:latin typeface="Calibri" pitchFamily="34" charset="0"/>
                <a:ea typeface="Calibri" pitchFamily="34" charset="-122"/>
                <a:cs typeface="Calibri" pitchFamily="34" charset="-120"/>
              </a:rPr>
              <a:t>Voltage trap below 3.5 V</a:t>
            </a:r>
            <a:endParaRPr lang="en-US" sz="2200" dirty="0"/>
          </a:p>
        </p:txBody>
      </p:sp>
      <p:sp>
        <p:nvSpPr>
          <p:cNvPr id="5" name="Text 3"/>
          <p:cNvSpPr/>
          <p:nvPr/>
        </p:nvSpPr>
        <p:spPr>
          <a:xfrm>
            <a:off x="548640" y="1828800"/>
            <a:ext cx="8046720" cy="2377440"/>
          </a:xfrm>
          <a:prstGeom prst="rect">
            <a:avLst/>
          </a:prstGeom>
          <a:noFill/>
          <a:ln/>
        </p:spPr>
        <p:txBody>
          <a:bodyPr wrap="square" lIns="0" tIns="0" rIns="0" bIns="0" rtlCol="0" anchor="ctr"/>
          <a:lstStyle/>
          <a:p>
            <a:pPr indent="0" marL="0">
              <a:spcAft>
                <a:spcPts val="1200"/>
              </a:spcAft>
              <a:buNone/>
            </a:pPr>
            <a:r>
              <a:rPr lang="en-US" sz="1600" dirty="0">
                <a:solidFill>
                  <a:srgbClr val="1F2937"/>
                </a:solidFill>
                <a:latin typeface="Calibri" pitchFamily="34" charset="0"/>
                <a:ea typeface="Calibri" pitchFamily="34" charset="-122"/>
                <a:cs typeface="Calibri" pitchFamily="34" charset="-120"/>
              </a:rPr>
              <a:t>A popular Seeed forum thread holds that the XIAO ESP32-C6's power management can't enter clean low-power sleep below ~3.5 V supply.</a:t>
            </a:r>
            <a:endParaRPr lang="en-US" sz="1600" dirty="0"/>
          </a:p>
          <a:p>
            <a:pPr indent="0" marL="0">
              <a:spcAft>
                <a:spcPts val="1200"/>
              </a:spcAft>
              <a:buNone/>
            </a:pPr>
            <a:r>
              <a:rPr lang="en-US" sz="1600" dirty="0">
                <a:solidFill>
                  <a:srgbClr val="1F2937"/>
                </a:solidFill>
                <a:latin typeface="Calibri" pitchFamily="34" charset="0"/>
                <a:ea typeface="Calibri" pitchFamily="34" charset="-122"/>
                <a:cs typeface="Calibri" pitchFamily="34" charset="-120"/>
              </a:rPr>
              <a:t>My L91 stack sits at 3.0–3.4 V across discharge.</a:t>
            </a:r>
            <a:endParaRPr lang="en-US" sz="1600" dirty="0"/>
          </a:p>
          <a:p>
            <a:pPr indent="0" marL="0">
              <a:buNone/>
            </a:pPr>
            <a:r>
              <a:rPr lang="en-US" sz="1600" dirty="0">
                <a:solidFill>
                  <a:srgbClr val="1F2937"/>
                </a:solidFill>
                <a:latin typeface="Calibri" pitchFamily="34" charset="0"/>
                <a:ea typeface="Calibri" pitchFamily="34" charset="-122"/>
                <a:cs typeface="Calibri" pitchFamily="34" charset="-120"/>
              </a:rPr>
              <a:t>Math close enough. Symptom matched. I wrote it into my notes and moved on.</a:t>
            </a:r>
            <a:endParaRPr lang="en-US" sz="1600" dirty="0"/>
          </a:p>
        </p:txBody>
      </p:sp>
      <p:sp>
        <p:nvSpPr>
          <p:cNvPr id="6" name="Text 4"/>
          <p:cNvSpPr/>
          <p:nvPr/>
        </p:nvSpPr>
        <p:spPr>
          <a:xfrm>
            <a:off x="548640" y="4297680"/>
            <a:ext cx="8046720" cy="365760"/>
          </a:xfrm>
          <a:prstGeom prst="rect">
            <a:avLst/>
          </a:prstGeom>
          <a:noFill/>
          <a:ln/>
        </p:spPr>
        <p:txBody>
          <a:bodyPr wrap="square" lIns="0" tIns="0" rIns="0" bIns="0" rtlCol="0" anchor="ctr"/>
          <a:lstStyle/>
          <a:p>
            <a:pPr indent="0" marL="0">
              <a:buNone/>
            </a:pPr>
            <a:r>
              <a:rPr lang="en-US" sz="1400" i="1" dirty="0">
                <a:solidFill>
                  <a:srgbClr val="0F766E"/>
                </a:solidFill>
                <a:latin typeface="Calibri" pitchFamily="34" charset="0"/>
                <a:ea typeface="Calibri" pitchFamily="34" charset="-122"/>
                <a:cs typeface="Calibri" pitchFamily="34" charset="-120"/>
              </a:rPr>
              <a:t>Then a fresh C6 arrived and I decided to verify before locking it in for next-season hardware.</a:t>
            </a:r>
            <a:endParaRPr lang="en-US" sz="1400" dirty="0"/>
          </a:p>
        </p:txBody>
      </p:sp>
      <p:sp>
        <p:nvSpPr>
          <p:cNvPr id="7" name="Text 5"/>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12</a:t>
            </a:r>
            <a:endParaRPr lang="en-US" sz="900" dirty="0"/>
          </a:p>
        </p:txBody>
      </p:sp>
      <p:sp>
        <p:nvSpPr>
          <p:cNvPr id="8" name="Text 6"/>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800" b="1" dirty="0">
                <a:solidFill>
                  <a:srgbClr val="1E293B"/>
                </a:solidFill>
                <a:latin typeface="Calibri" pitchFamily="34" charset="0"/>
                <a:ea typeface="Calibri" pitchFamily="34" charset="-122"/>
                <a:cs typeface="Calibri" pitchFamily="34" charset="-120"/>
              </a:rPr>
              <a:t>The bench setup</a:t>
            </a:r>
            <a:endParaRPr lang="en-US" sz="3800" dirty="0"/>
          </a:p>
        </p:txBody>
      </p:sp>
      <p:sp>
        <p:nvSpPr>
          <p:cNvPr id="4" name="Text 2"/>
          <p:cNvSpPr/>
          <p:nvPr/>
        </p:nvSpPr>
        <p:spPr>
          <a:xfrm>
            <a:off x="457200" y="1097280"/>
            <a:ext cx="822960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Fresh stock C6, PPK2 as both power source and current meter, one variable at a time</a:t>
            </a:r>
            <a:endParaRPr lang="en-US" sz="1600" dirty="0"/>
          </a:p>
        </p:txBody>
      </p:sp>
      <p:sp>
        <p:nvSpPr>
          <p:cNvPr id="5" name="Shape 3"/>
          <p:cNvSpPr/>
          <p:nvPr/>
        </p:nvSpPr>
        <p:spPr>
          <a:xfrm>
            <a:off x="548640" y="2011680"/>
            <a:ext cx="109728" cy="109728"/>
          </a:xfrm>
          <a:prstGeom prst="ellipse">
            <a:avLst/>
          </a:prstGeom>
          <a:solidFill>
            <a:srgbClr val="14B8A6"/>
          </a:solidFill>
          <a:ln/>
        </p:spPr>
      </p:sp>
      <p:sp>
        <p:nvSpPr>
          <p:cNvPr id="6" name="Text 4"/>
          <p:cNvSpPr/>
          <p:nvPr/>
        </p:nvSpPr>
        <p:spPr>
          <a:xfrm>
            <a:off x="777240" y="1920240"/>
            <a:ext cx="365760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Nordic PPK2 in Source Meter mode at 3.300 V</a:t>
            </a:r>
            <a:endParaRPr lang="en-US" sz="1400" dirty="0"/>
          </a:p>
        </p:txBody>
      </p:sp>
      <p:sp>
        <p:nvSpPr>
          <p:cNvPr id="7" name="Shape 5"/>
          <p:cNvSpPr/>
          <p:nvPr/>
        </p:nvSpPr>
        <p:spPr>
          <a:xfrm>
            <a:off x="548640" y="2395728"/>
            <a:ext cx="109728" cy="109728"/>
          </a:xfrm>
          <a:prstGeom prst="ellipse">
            <a:avLst/>
          </a:prstGeom>
          <a:solidFill>
            <a:srgbClr val="14B8A6"/>
          </a:solidFill>
          <a:ln/>
        </p:spPr>
      </p:sp>
      <p:sp>
        <p:nvSpPr>
          <p:cNvPr id="8" name="Text 6"/>
          <p:cNvSpPr/>
          <p:nvPr/>
        </p:nvSpPr>
        <p:spPr>
          <a:xfrm>
            <a:off x="777240" y="2304288"/>
            <a:ext cx="365760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Leads on the C6's 3V3 pin and GND</a:t>
            </a:r>
            <a:endParaRPr lang="en-US" sz="1400" dirty="0"/>
          </a:p>
        </p:txBody>
      </p:sp>
      <p:sp>
        <p:nvSpPr>
          <p:cNvPr id="9" name="Shape 7"/>
          <p:cNvSpPr/>
          <p:nvPr/>
        </p:nvSpPr>
        <p:spPr>
          <a:xfrm>
            <a:off x="548640" y="2779776"/>
            <a:ext cx="109728" cy="109728"/>
          </a:xfrm>
          <a:prstGeom prst="ellipse">
            <a:avLst/>
          </a:prstGeom>
          <a:solidFill>
            <a:srgbClr val="14B8A6"/>
          </a:solidFill>
          <a:ln/>
        </p:spPr>
      </p:sp>
      <p:sp>
        <p:nvSpPr>
          <p:cNvPr id="10" name="Text 8"/>
          <p:cNvSpPr/>
          <p:nvPr/>
        </p:nvSpPr>
        <p:spPr>
          <a:xfrm>
            <a:off x="777240" y="2688336"/>
            <a:ext cx="365760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No USB, no battery, no modifications</a:t>
            </a:r>
            <a:endParaRPr lang="en-US" sz="1400" dirty="0"/>
          </a:p>
        </p:txBody>
      </p:sp>
      <p:sp>
        <p:nvSpPr>
          <p:cNvPr id="11" name="Shape 9"/>
          <p:cNvSpPr/>
          <p:nvPr/>
        </p:nvSpPr>
        <p:spPr>
          <a:xfrm>
            <a:off x="548640" y="3163824"/>
            <a:ext cx="109728" cy="109728"/>
          </a:xfrm>
          <a:prstGeom prst="ellipse">
            <a:avLst/>
          </a:prstGeom>
          <a:solidFill>
            <a:srgbClr val="14B8A6"/>
          </a:solidFill>
          <a:ln/>
        </p:spPr>
      </p:sp>
      <p:sp>
        <p:nvSpPr>
          <p:cNvPr id="12" name="Text 10"/>
          <p:cNvSpPr/>
          <p:nvPr/>
        </p:nvSpPr>
        <p:spPr>
          <a:xfrm>
            <a:off x="777240" y="3072384"/>
            <a:ext cx="365760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Same supply topology as the deployed float</a:t>
            </a:r>
            <a:endParaRPr lang="en-US" sz="1400" dirty="0"/>
          </a:p>
        </p:txBody>
      </p:sp>
      <p:sp>
        <p:nvSpPr>
          <p:cNvPr id="13" name="Shape 11"/>
          <p:cNvSpPr/>
          <p:nvPr/>
        </p:nvSpPr>
        <p:spPr>
          <a:xfrm>
            <a:off x="548640" y="3547872"/>
            <a:ext cx="109728" cy="109728"/>
          </a:xfrm>
          <a:prstGeom prst="ellipse">
            <a:avLst/>
          </a:prstGeom>
          <a:solidFill>
            <a:srgbClr val="14B8A6"/>
          </a:solidFill>
          <a:ln/>
        </p:spPr>
      </p:sp>
      <p:sp>
        <p:nvSpPr>
          <p:cNvPr id="14" name="Text 12"/>
          <p:cNvSpPr/>
          <p:nvPr/>
        </p:nvSpPr>
        <p:spPr>
          <a:xfrm>
            <a:off x="777240" y="3456432"/>
            <a:ext cx="365760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Add one piece at a time, watch the trace</a:t>
            </a:r>
            <a:endParaRPr lang="en-US" sz="1400" dirty="0"/>
          </a:p>
        </p:txBody>
      </p:sp>
      <p:sp>
        <p:nvSpPr>
          <p:cNvPr id="15" name="Shape 13"/>
          <p:cNvSpPr/>
          <p:nvPr/>
        </p:nvSpPr>
        <p:spPr>
          <a:xfrm>
            <a:off x="548640" y="3931920"/>
            <a:ext cx="109728" cy="109728"/>
          </a:xfrm>
          <a:prstGeom prst="ellipse">
            <a:avLst/>
          </a:prstGeom>
          <a:solidFill>
            <a:srgbClr val="14B8A6"/>
          </a:solidFill>
          <a:ln/>
        </p:spPr>
      </p:sp>
      <p:sp>
        <p:nvSpPr>
          <p:cNvPr id="16" name="Text 14"/>
          <p:cNvSpPr/>
          <p:nvPr/>
        </p:nvSpPr>
        <p:spPr>
          <a:xfrm>
            <a:off x="777240" y="3840480"/>
            <a:ext cx="365760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Capture a sleep-only slice on each test</a:t>
            </a:r>
            <a:endParaRPr lang="en-US" sz="1400" dirty="0"/>
          </a:p>
        </p:txBody>
      </p:sp>
      <p:sp>
        <p:nvSpPr>
          <p:cNvPr id="17" name="Shape 15"/>
          <p:cNvSpPr/>
          <p:nvPr/>
        </p:nvSpPr>
        <p:spPr>
          <a:xfrm>
            <a:off x="4846320" y="1920240"/>
            <a:ext cx="3840480" cy="2468880"/>
          </a:xfrm>
          <a:prstGeom prst="rect">
            <a:avLst/>
          </a:prstGeom>
          <a:solidFill>
            <a:srgbClr val="F1F5F9"/>
          </a:solidFill>
          <a:ln w="12700">
            <a:solidFill>
              <a:srgbClr val="E2E8F0"/>
            </a:solidFill>
            <a:prstDash val="dash"/>
          </a:ln>
        </p:spPr>
      </p:sp>
      <p:sp>
        <p:nvSpPr>
          <p:cNvPr id="18" name="Text 16"/>
          <p:cNvSpPr/>
          <p:nvPr/>
        </p:nvSpPr>
        <p:spPr>
          <a:xfrm>
            <a:off x="5029200" y="2971800"/>
            <a:ext cx="347472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Insert: breadboard photo (C6 + 47 kΩ resistors + PPK2 leads)</a:t>
            </a:r>
            <a:endParaRPr lang="en-US" sz="1100" dirty="0"/>
          </a:p>
        </p:txBody>
      </p:sp>
      <p:sp>
        <p:nvSpPr>
          <p:cNvPr id="19" name="Text 17"/>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12</a:t>
            </a:r>
            <a:endParaRPr lang="en-US" sz="900" dirty="0"/>
          </a:p>
        </p:txBody>
      </p:sp>
      <p:sp>
        <p:nvSpPr>
          <p:cNvPr id="20" name="Text 18"/>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600" b="1" dirty="0">
                <a:solidFill>
                  <a:srgbClr val="1E293B"/>
                </a:solidFill>
                <a:latin typeface="Calibri" pitchFamily="34" charset="0"/>
                <a:ea typeface="Calibri" pitchFamily="34" charset="-122"/>
                <a:cs typeface="Calibri" pitchFamily="34" charset="-120"/>
              </a:rPr>
              <a:t>What actually happened</a:t>
            </a:r>
            <a:endParaRPr lang="en-US" sz="3600" dirty="0"/>
          </a:p>
        </p:txBody>
      </p:sp>
      <p:sp>
        <p:nvSpPr>
          <p:cNvPr id="4" name="Text 2"/>
          <p:cNvSpPr/>
          <p:nvPr/>
        </p:nvSpPr>
        <p:spPr>
          <a:xfrm>
            <a:off x="457200" y="1005840"/>
            <a:ext cx="822960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Each row is one change from the row above. Sleep current measured in a flat 8–30 s selection between wakes.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5943600"/>
                <a:gridCol w="2286000"/>
              </a:tblGrid>
              <a:tr h="320040">
                <a:tc>
                  <a:txBody>
                    <a:bodyPr/>
                    <a:lstStyle/>
                    <a:p>
                      <a:pPr indent="0" marL="0">
                        <a:buNone/>
                      </a:pPr>
                      <a:r>
                        <a:rPr lang="en-US" sz="1300" b="1" dirty="0">
                          <a:solidFill>
                            <a:srgbClr val="F1F5F9"/>
                          </a:solidFill>
                          <a:latin typeface="Calibri" pitchFamily="34" charset="0"/>
                          <a:ea typeface="Calibri" pitchFamily="34" charset="-122"/>
                          <a:cs typeface="Calibri" pitchFamily="34" charset="-120"/>
                        </a:rPr>
                        <a:t>Configuration</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algn="r" indent="0" marL="0">
                        <a:buNone/>
                      </a:pPr>
                      <a:r>
                        <a:rPr lang="en-US" sz="1300" b="1" dirty="0">
                          <a:solidFill>
                            <a:srgbClr val="F1F5F9"/>
                          </a:solidFill>
                          <a:latin typeface="Calibri" pitchFamily="34" charset="0"/>
                          <a:ea typeface="Calibri" pitchFamily="34" charset="-122"/>
                          <a:cs typeface="Calibri" pitchFamily="34" charset="-120"/>
                        </a:rPr>
                        <a:t>Sleep current</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Stock C6, minimal firmware</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300" b="1" dirty="0">
                          <a:solidFill>
                            <a:srgbClr val="0F766E"/>
                          </a:solidFill>
                          <a:latin typeface="Calibri" pitchFamily="34" charset="0"/>
                          <a:ea typeface="Calibri" pitchFamily="34" charset="-122"/>
                          <a:cs typeface="Calibri" pitchFamily="34" charset="-120"/>
                        </a:rPr>
                        <a:t>15.66 µA</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Stock C6, full pool-float firmware (ADCs configured, nothing wired)</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15.66 µA</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Add 47 kΩ + 47 kΩ NTC divider, high side on 3V3</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300" b="1" dirty="0">
                          <a:solidFill>
                            <a:srgbClr val="F59E0B"/>
                          </a:solidFill>
                          <a:latin typeface="Calibri" pitchFamily="34" charset="0"/>
                          <a:ea typeface="Calibri" pitchFamily="34" charset="-122"/>
                          <a:cs typeface="Calibri" pitchFamily="34" charset="-120"/>
                        </a:rPr>
                        <a:t>333.77 µA</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Move divider's high side to GPIO2 (LOW during sleep, gpio_hold_en)</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300" b="1" dirty="0">
                          <a:solidFill>
                            <a:srgbClr val="0F766E"/>
                          </a:solidFill>
                          <a:latin typeface="Calibri" pitchFamily="34" charset="0"/>
                          <a:ea typeface="Calibri" pitchFamily="34" charset="-122"/>
                          <a:cs typeface="Calibri" pitchFamily="34" charset="-120"/>
                        </a:rPr>
                        <a:t>89.51 µA</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Remove the second ADC sensor from firmware</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89.55 µA</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Lift GPIO1 from the divider entirely (pin floating)</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89.53 µA</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Change ADC attenuation 12 dB → 6 dB</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300" dirty="0">
                          <a:solidFill>
                            <a:srgbClr val="1F2937"/>
                          </a:solidFill>
                          <a:latin typeface="Calibri" pitchFamily="34" charset="0"/>
                          <a:ea typeface="Calibri" pitchFamily="34" charset="-122"/>
                          <a:cs typeface="Calibri" pitchFamily="34" charset="-120"/>
                        </a:rPr>
                        <a:t>89.53 µA</a:t>
                      </a:r>
                      <a:endParaRPr lang="en-US" sz="13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457200" y="4434840"/>
            <a:ext cx="8229600" cy="365760"/>
          </a:xfrm>
          <a:prstGeom prst="rect">
            <a:avLst/>
          </a:prstGeom>
          <a:noFill/>
          <a:ln/>
        </p:spPr>
        <p:txBody>
          <a:bodyPr wrap="square" lIns="0" tIns="0" rIns="0" bIns="0" rtlCol="0" anchor="ctr"/>
          <a:lstStyle/>
          <a:p>
            <a:pPr algn="ctr" indent="0" marL="0">
              <a:buNone/>
            </a:pPr>
            <a:r>
              <a:rPr lang="en-US" sz="1400" i="1" dirty="0">
                <a:solidFill>
                  <a:srgbClr val="0F766E"/>
                </a:solidFill>
                <a:latin typeface="Calibri" pitchFamily="34" charset="0"/>
                <a:ea typeface="Calibri" pitchFamily="34" charset="-122"/>
                <a:cs typeface="Calibri" pitchFamily="34" charset="-120"/>
              </a:rPr>
              <a:t>Three numbers tell the story: 16, 89, 333.</a:t>
            </a:r>
            <a:endParaRPr lang="en-US" sz="1400" dirty="0"/>
          </a:p>
        </p:txBody>
      </p:sp>
      <p:sp>
        <p:nvSpPr>
          <p:cNvPr id="7" name="Text 4"/>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12</a:t>
            </a:r>
            <a:endParaRPr lang="en-US" sz="900" dirty="0"/>
          </a:p>
        </p:txBody>
      </p:sp>
      <p:sp>
        <p:nvSpPr>
          <p:cNvPr id="8" name="Text 5"/>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First surprise — there is no voltage trap</a:t>
            </a:r>
            <a:endParaRPr lang="en-US" sz="3200" dirty="0"/>
          </a:p>
        </p:txBody>
      </p:sp>
      <p:sp>
        <p:nvSpPr>
          <p:cNvPr id="4" name="Text 2"/>
          <p:cNvSpPr/>
          <p:nvPr/>
        </p:nvSpPr>
        <p:spPr>
          <a:xfrm>
            <a:off x="457200" y="1280160"/>
            <a:ext cx="8229600" cy="1463040"/>
          </a:xfrm>
          <a:prstGeom prst="rect">
            <a:avLst/>
          </a:prstGeom>
          <a:noFill/>
          <a:ln/>
        </p:spPr>
        <p:txBody>
          <a:bodyPr wrap="square" lIns="0" tIns="0" rIns="0" bIns="0" rtlCol="0" anchor="ctr"/>
          <a:lstStyle/>
          <a:p>
            <a:pPr algn="ctr" indent="0" marL="0">
              <a:buNone/>
            </a:pPr>
            <a:r>
              <a:rPr lang="en-US" sz="11000" b="1" dirty="0">
                <a:solidFill>
                  <a:srgbClr val="14B8A6"/>
                </a:solidFill>
                <a:latin typeface="Calibri" pitchFamily="34" charset="0"/>
                <a:ea typeface="Calibri" pitchFamily="34" charset="-122"/>
                <a:cs typeface="Calibri" pitchFamily="34" charset="-120"/>
              </a:rPr>
              <a:t>15.66 µA</a:t>
            </a:r>
            <a:endParaRPr lang="en-US" sz="11000" dirty="0"/>
          </a:p>
        </p:txBody>
      </p:sp>
      <p:sp>
        <p:nvSpPr>
          <p:cNvPr id="5" name="Text 3"/>
          <p:cNvSpPr/>
          <p:nvPr/>
        </p:nvSpPr>
        <p:spPr>
          <a:xfrm>
            <a:off x="457200" y="2743200"/>
            <a:ext cx="8229600" cy="457200"/>
          </a:xfrm>
          <a:prstGeom prst="rect">
            <a:avLst/>
          </a:prstGeom>
          <a:noFill/>
          <a:ln/>
        </p:spPr>
        <p:txBody>
          <a:bodyPr wrap="square" lIns="0" tIns="0" rIns="0" bIns="0" rtlCol="0" anchor="ctr"/>
          <a:lstStyle/>
          <a:p>
            <a:pPr algn="ctr" indent="0" marL="0">
              <a:buNone/>
            </a:pPr>
            <a:r>
              <a:rPr lang="en-US" sz="1600" i="1" dirty="0">
                <a:solidFill>
                  <a:srgbClr val="1F2937"/>
                </a:solidFill>
                <a:latin typeface="Calibri" pitchFamily="34" charset="0"/>
                <a:ea typeface="Calibri" pitchFamily="34" charset="-122"/>
                <a:cs typeface="Calibri" pitchFamily="34" charset="-120"/>
              </a:rPr>
              <a:t>fresh stock C6, 3.3 V on the 3V3 pin, exactly the supply voltage I was 'trapped' at</a:t>
            </a:r>
            <a:endParaRPr lang="en-US" sz="1600" dirty="0"/>
          </a:p>
        </p:txBody>
      </p:sp>
      <p:sp>
        <p:nvSpPr>
          <p:cNvPr id="6" name="Text 4"/>
          <p:cNvSpPr/>
          <p:nvPr/>
        </p:nvSpPr>
        <p:spPr>
          <a:xfrm>
            <a:off x="1371600" y="3383280"/>
            <a:ext cx="6400800" cy="1280160"/>
          </a:xfrm>
          <a:prstGeom prst="rect">
            <a:avLst/>
          </a:prstGeom>
          <a:noFill/>
          <a:ln/>
        </p:spPr>
        <p:txBody>
          <a:bodyPr wrap="square" lIns="0" tIns="0" rIns="0" bIns="0" rtlCol="0" anchor="ctr"/>
          <a:lstStyle/>
          <a:p>
            <a:pPr algn="ctr" indent="0" marL="0">
              <a:spcAft>
                <a:spcPts val="800"/>
              </a:spcAft>
              <a:buNone/>
            </a:pPr>
            <a:r>
              <a:rPr lang="en-US" sz="1500" dirty="0">
                <a:solidFill>
                  <a:srgbClr val="1F2937"/>
                </a:solidFill>
                <a:latin typeface="Calibri" pitchFamily="34" charset="0"/>
                <a:ea typeface="Calibri" pitchFamily="34" charset="-122"/>
                <a:cs typeface="Calibri" pitchFamily="34" charset="-120"/>
              </a:rPr>
              <a:t>The Seeed forum's BASIC example reproduces fine.</a:t>
            </a:r>
            <a:endParaRPr lang="en-US" sz="1500" dirty="0"/>
          </a:p>
          <a:p>
            <a:pPr algn="ctr" indent="0" marL="0">
              <a:spcAft>
                <a:spcPts val="800"/>
              </a:spcAft>
              <a:buNone/>
            </a:pPr>
            <a:r>
              <a:rPr lang="en-US" sz="1500" dirty="0">
                <a:solidFill>
                  <a:srgbClr val="1F2937"/>
                </a:solidFill>
                <a:latin typeface="Calibri" pitchFamily="34" charset="0"/>
                <a:ea typeface="Calibri" pitchFamily="34" charset="-122"/>
                <a:cs typeface="Calibri" pitchFamily="34" charset="-120"/>
              </a:rPr>
              <a:t>The wrong theory is dead at row 1 of the matrix.</a:t>
            </a:r>
            <a:endParaRPr lang="en-US" sz="1500" dirty="0"/>
          </a:p>
          <a:p>
            <a:pPr algn="ctr" indent="0" marL="0">
              <a:buNone/>
            </a:pPr>
            <a:r>
              <a:rPr lang="en-US" sz="1500" b="1" dirty="0">
                <a:solidFill>
                  <a:srgbClr val="F59E0B"/>
                </a:solidFill>
                <a:latin typeface="Calibri" pitchFamily="34" charset="0"/>
                <a:ea typeface="Calibri" pitchFamily="34" charset="-122"/>
                <a:cs typeface="Calibri" pitchFamily="34" charset="-120"/>
              </a:rPr>
              <a:t>So where is my 365 µA going?</a:t>
            </a:r>
            <a:endParaRPr lang="en-US" sz="1500" dirty="0"/>
          </a:p>
        </p:txBody>
      </p:sp>
      <p:sp>
        <p:nvSpPr>
          <p:cNvPr id="7" name="Text 5"/>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12</a:t>
            </a:r>
            <a:endParaRPr lang="en-US" sz="900" dirty="0"/>
          </a:p>
        </p:txBody>
      </p:sp>
      <p:sp>
        <p:nvSpPr>
          <p:cNvPr id="8" name="Text 6"/>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Effect #1 — the divider costs 10× the math</a:t>
            </a:r>
            <a:endParaRPr lang="en-US" sz="3000" dirty="0"/>
          </a:p>
        </p:txBody>
      </p:sp>
      <p:sp>
        <p:nvSpPr>
          <p:cNvPr id="4" name="Text 2"/>
          <p:cNvSpPr/>
          <p:nvPr/>
        </p:nvSpPr>
        <p:spPr>
          <a:xfrm>
            <a:off x="457200" y="1188720"/>
            <a:ext cx="41148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Ohm's law predicts:</a:t>
            </a:r>
            <a:endParaRPr lang="en-US" sz="1300" dirty="0"/>
          </a:p>
        </p:txBody>
      </p:sp>
      <p:sp>
        <p:nvSpPr>
          <p:cNvPr id="5" name="Text 3"/>
          <p:cNvSpPr/>
          <p:nvPr/>
        </p:nvSpPr>
        <p:spPr>
          <a:xfrm>
            <a:off x="457200" y="1508760"/>
            <a:ext cx="4114800" cy="45720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3.3 V ÷ 94 kΩ = 35 µA</a:t>
            </a:r>
            <a:endParaRPr lang="en-US" sz="2200" dirty="0"/>
          </a:p>
        </p:txBody>
      </p:sp>
      <p:sp>
        <p:nvSpPr>
          <p:cNvPr id="6" name="Text 4"/>
          <p:cNvSpPr/>
          <p:nvPr/>
        </p:nvSpPr>
        <p:spPr>
          <a:xfrm>
            <a:off x="457200" y="2194560"/>
            <a:ext cx="41148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Bench measured:</a:t>
            </a:r>
            <a:endParaRPr lang="en-US" sz="1300" dirty="0"/>
          </a:p>
        </p:txBody>
      </p:sp>
      <p:sp>
        <p:nvSpPr>
          <p:cNvPr id="7" name="Text 5"/>
          <p:cNvSpPr/>
          <p:nvPr/>
        </p:nvSpPr>
        <p:spPr>
          <a:xfrm>
            <a:off x="457200" y="2514600"/>
            <a:ext cx="4114800" cy="457200"/>
          </a:xfrm>
          <a:prstGeom prst="rect">
            <a:avLst/>
          </a:prstGeom>
          <a:noFill/>
          <a:ln/>
        </p:spPr>
        <p:txBody>
          <a:bodyPr wrap="square" lIns="0" tIns="0" rIns="0" bIns="0"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318 µA above the bare floor</a:t>
            </a:r>
            <a:endParaRPr lang="en-US" sz="2200" dirty="0"/>
          </a:p>
        </p:txBody>
      </p:sp>
      <p:sp>
        <p:nvSpPr>
          <p:cNvPr id="8" name="Text 6"/>
          <p:cNvSpPr/>
          <p:nvPr/>
        </p:nvSpPr>
        <p:spPr>
          <a:xfrm>
            <a:off x="457200" y="3200400"/>
            <a:ext cx="4114800" cy="1371600"/>
          </a:xfrm>
          <a:prstGeom prst="rect">
            <a:avLst/>
          </a:prstGeom>
          <a:noFill/>
          <a:ln/>
        </p:spPr>
        <p:txBody>
          <a:bodyPr wrap="square" lIns="0" tIns="0" rIns="0" bIns="0" rtlCol="0" anchor="ctr"/>
          <a:lstStyle/>
          <a:p>
            <a:pPr indent="0" marL="0">
              <a:spcAft>
                <a:spcPts val="800"/>
              </a:spcAft>
              <a:buNone/>
            </a:pPr>
            <a:r>
              <a:rPr lang="en-US" sz="1200" dirty="0">
                <a:solidFill>
                  <a:srgbClr val="1F2937"/>
                </a:solidFill>
                <a:latin typeface="Calibri" pitchFamily="34" charset="0"/>
                <a:ea typeface="Calibri" pitchFamily="34" charset="-122"/>
                <a:cs typeface="Calibri" pitchFamily="34" charset="-120"/>
              </a:rPr>
              <a:t>Best read: the ADC pin's input frontend at 12 dB attenuation is loading the divider somehow — bias circuitry in the SAR ADC's analog frontend that the passive math doesn't capture.</a:t>
            </a:r>
            <a:endParaRPr lang="en-US" sz="1200" dirty="0"/>
          </a:p>
          <a:p>
            <a:pPr indent="0" marL="0">
              <a:buNone/>
            </a:pPr>
            <a:r>
              <a:rPr lang="en-US" sz="1200" i="1" dirty="0">
                <a:solidFill>
                  <a:srgbClr val="64748B"/>
                </a:solidFill>
                <a:latin typeface="Calibri" pitchFamily="34" charset="0"/>
                <a:ea typeface="Calibri" pitchFamily="34" charset="-122"/>
                <a:cs typeface="Calibri" pitchFamily="34" charset="-120"/>
              </a:rPr>
              <a:t>Held loosely — I'm guessing at the mechanism, not measuring it.</a:t>
            </a:r>
            <a:endParaRPr lang="en-US" sz="1200" dirty="0"/>
          </a:p>
        </p:txBody>
      </p:sp>
      <p:sp>
        <p:nvSpPr>
          <p:cNvPr id="9" name="Shape 7"/>
          <p:cNvSpPr/>
          <p:nvPr/>
        </p:nvSpPr>
        <p:spPr>
          <a:xfrm>
            <a:off x="4846320" y="1188720"/>
            <a:ext cx="3840480" cy="3200400"/>
          </a:xfrm>
          <a:prstGeom prst="rect">
            <a:avLst/>
          </a:prstGeom>
          <a:solidFill>
            <a:srgbClr val="F1F5F9"/>
          </a:solidFill>
          <a:ln w="12700">
            <a:solidFill>
              <a:srgbClr val="E2E8F0"/>
            </a:solidFill>
            <a:prstDash val="dash"/>
          </a:ln>
        </p:spPr>
      </p:sp>
      <p:sp>
        <p:nvSpPr>
          <p:cNvPr id="10" name="Text 8"/>
          <p:cNvSpPr/>
          <p:nvPr/>
        </p:nvSpPr>
        <p:spPr>
          <a:xfrm>
            <a:off x="5029200" y="2606040"/>
            <a:ext cx="347472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Insert: PPK2 trace — 333.77 µA selection (divider on 3V3)</a:t>
            </a:r>
            <a:endParaRPr lang="en-US" sz="1100" dirty="0"/>
          </a:p>
        </p:txBody>
      </p:sp>
      <p:sp>
        <p:nvSpPr>
          <p:cNvPr id="11" name="Text 9"/>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12</a:t>
            </a:r>
            <a:endParaRPr lang="en-US" sz="900" dirty="0"/>
          </a:p>
        </p:txBody>
      </p:sp>
      <p:sp>
        <p:nvSpPr>
          <p:cNvPr id="12" name="Text 10"/>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Effect #2 — ADC subsystem bias, fixed cost</a:t>
            </a:r>
            <a:endParaRPr lang="en-US" sz="3000" dirty="0"/>
          </a:p>
        </p:txBody>
      </p:sp>
      <p:sp>
        <p:nvSpPr>
          <p:cNvPr id="4" name="Text 2"/>
          <p:cNvSpPr/>
          <p:nvPr/>
        </p:nvSpPr>
        <p:spPr>
          <a:xfrm>
            <a:off x="457200" y="1051560"/>
            <a:ext cx="82296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Four different tries to drop it. Same number every time.</a:t>
            </a:r>
            <a:endParaRPr lang="en-US" sz="1400" dirty="0"/>
          </a:p>
        </p:txBody>
      </p:sp>
      <p:sp>
        <p:nvSpPr>
          <p:cNvPr id="5" name="Shape 3"/>
          <p:cNvSpPr/>
          <p:nvPr/>
        </p:nvSpPr>
        <p:spPr>
          <a:xfrm>
            <a:off x="457200" y="1554480"/>
            <a:ext cx="3931920" cy="1097280"/>
          </a:xfrm>
          <a:prstGeom prst="rect">
            <a:avLst/>
          </a:prstGeom>
          <a:solidFill>
            <a:srgbClr val="F1F5F9"/>
          </a:solidFill>
          <a:ln w="6350">
            <a:solidFill>
              <a:srgbClr val="E2E8F0"/>
            </a:solidFill>
            <a:prstDash val="solid"/>
          </a:ln>
        </p:spPr>
      </p:sp>
      <p:sp>
        <p:nvSpPr>
          <p:cNvPr id="6" name="Shape 4"/>
          <p:cNvSpPr/>
          <p:nvPr/>
        </p:nvSpPr>
        <p:spPr>
          <a:xfrm>
            <a:off x="457200" y="1554480"/>
            <a:ext cx="54864" cy="1097280"/>
          </a:xfrm>
          <a:prstGeom prst="rect">
            <a:avLst/>
          </a:prstGeom>
          <a:solidFill>
            <a:srgbClr val="14B8A6"/>
          </a:solidFill>
          <a:ln/>
        </p:spPr>
      </p:sp>
      <p:sp>
        <p:nvSpPr>
          <p:cNvPr id="7" name="Text 5"/>
          <p:cNvSpPr/>
          <p:nvPr/>
        </p:nvSpPr>
        <p:spPr>
          <a:xfrm>
            <a:off x="685800" y="1737360"/>
            <a:ext cx="356616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Divider GPIO-gated</a:t>
            </a:r>
            <a:endParaRPr lang="en-US" sz="1300" dirty="0"/>
          </a:p>
        </p:txBody>
      </p:sp>
      <p:sp>
        <p:nvSpPr>
          <p:cNvPr id="8" name="Text 6"/>
          <p:cNvSpPr/>
          <p:nvPr/>
        </p:nvSpPr>
        <p:spPr>
          <a:xfrm>
            <a:off x="685800" y="2057400"/>
            <a:ext cx="3566160" cy="50292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89.51 µA</a:t>
            </a:r>
            <a:endParaRPr lang="en-US" sz="2800" dirty="0"/>
          </a:p>
        </p:txBody>
      </p:sp>
      <p:sp>
        <p:nvSpPr>
          <p:cNvPr id="9" name="Shape 7"/>
          <p:cNvSpPr/>
          <p:nvPr/>
        </p:nvSpPr>
        <p:spPr>
          <a:xfrm>
            <a:off x="4572000" y="1554480"/>
            <a:ext cx="3931920" cy="1097280"/>
          </a:xfrm>
          <a:prstGeom prst="rect">
            <a:avLst/>
          </a:prstGeom>
          <a:solidFill>
            <a:srgbClr val="F1F5F9"/>
          </a:solidFill>
          <a:ln w="6350">
            <a:solidFill>
              <a:srgbClr val="E2E8F0"/>
            </a:solidFill>
            <a:prstDash val="solid"/>
          </a:ln>
        </p:spPr>
      </p:sp>
      <p:sp>
        <p:nvSpPr>
          <p:cNvPr id="10" name="Shape 8"/>
          <p:cNvSpPr/>
          <p:nvPr/>
        </p:nvSpPr>
        <p:spPr>
          <a:xfrm>
            <a:off x="4572000" y="1554480"/>
            <a:ext cx="54864" cy="1097280"/>
          </a:xfrm>
          <a:prstGeom prst="rect">
            <a:avLst/>
          </a:prstGeom>
          <a:solidFill>
            <a:srgbClr val="14B8A6"/>
          </a:solidFill>
          <a:ln/>
        </p:spPr>
      </p:sp>
      <p:sp>
        <p:nvSpPr>
          <p:cNvPr id="11" name="Text 9"/>
          <p:cNvSpPr/>
          <p:nvPr/>
        </p:nvSpPr>
        <p:spPr>
          <a:xfrm>
            <a:off x="4800600" y="1737360"/>
            <a:ext cx="356616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GPIO0 ADC removed from FW</a:t>
            </a:r>
            <a:endParaRPr lang="en-US" sz="1300" dirty="0"/>
          </a:p>
        </p:txBody>
      </p:sp>
      <p:sp>
        <p:nvSpPr>
          <p:cNvPr id="12" name="Text 10"/>
          <p:cNvSpPr/>
          <p:nvPr/>
        </p:nvSpPr>
        <p:spPr>
          <a:xfrm>
            <a:off x="4800600" y="2057400"/>
            <a:ext cx="3566160" cy="50292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89.55 µA</a:t>
            </a:r>
            <a:endParaRPr lang="en-US" sz="2800" dirty="0"/>
          </a:p>
        </p:txBody>
      </p:sp>
      <p:sp>
        <p:nvSpPr>
          <p:cNvPr id="13" name="Shape 11"/>
          <p:cNvSpPr/>
          <p:nvPr/>
        </p:nvSpPr>
        <p:spPr>
          <a:xfrm>
            <a:off x="457200" y="2788920"/>
            <a:ext cx="3931920" cy="1097280"/>
          </a:xfrm>
          <a:prstGeom prst="rect">
            <a:avLst/>
          </a:prstGeom>
          <a:solidFill>
            <a:srgbClr val="F1F5F9"/>
          </a:solidFill>
          <a:ln w="6350">
            <a:solidFill>
              <a:srgbClr val="E2E8F0"/>
            </a:solidFill>
            <a:prstDash val="solid"/>
          </a:ln>
        </p:spPr>
      </p:sp>
      <p:sp>
        <p:nvSpPr>
          <p:cNvPr id="14" name="Shape 12"/>
          <p:cNvSpPr/>
          <p:nvPr/>
        </p:nvSpPr>
        <p:spPr>
          <a:xfrm>
            <a:off x="457200" y="2788920"/>
            <a:ext cx="54864" cy="1097280"/>
          </a:xfrm>
          <a:prstGeom prst="rect">
            <a:avLst/>
          </a:prstGeom>
          <a:solidFill>
            <a:srgbClr val="14B8A6"/>
          </a:solidFill>
          <a:ln/>
        </p:spPr>
      </p:sp>
      <p:sp>
        <p:nvSpPr>
          <p:cNvPr id="15" name="Text 13"/>
          <p:cNvSpPr/>
          <p:nvPr/>
        </p:nvSpPr>
        <p:spPr>
          <a:xfrm>
            <a:off x="685800" y="2971800"/>
            <a:ext cx="356616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GPIO1 lifted entirely (floating)</a:t>
            </a:r>
            <a:endParaRPr lang="en-US" sz="1300" dirty="0"/>
          </a:p>
        </p:txBody>
      </p:sp>
      <p:sp>
        <p:nvSpPr>
          <p:cNvPr id="16" name="Text 14"/>
          <p:cNvSpPr/>
          <p:nvPr/>
        </p:nvSpPr>
        <p:spPr>
          <a:xfrm>
            <a:off x="685800" y="3291840"/>
            <a:ext cx="3566160" cy="50292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89.53 µA</a:t>
            </a:r>
            <a:endParaRPr lang="en-US" sz="2800" dirty="0"/>
          </a:p>
        </p:txBody>
      </p:sp>
      <p:sp>
        <p:nvSpPr>
          <p:cNvPr id="17" name="Shape 15"/>
          <p:cNvSpPr/>
          <p:nvPr/>
        </p:nvSpPr>
        <p:spPr>
          <a:xfrm>
            <a:off x="4572000" y="2788920"/>
            <a:ext cx="3931920" cy="1097280"/>
          </a:xfrm>
          <a:prstGeom prst="rect">
            <a:avLst/>
          </a:prstGeom>
          <a:solidFill>
            <a:srgbClr val="F1F5F9"/>
          </a:solidFill>
          <a:ln w="6350">
            <a:solidFill>
              <a:srgbClr val="E2E8F0"/>
            </a:solidFill>
            <a:prstDash val="solid"/>
          </a:ln>
        </p:spPr>
      </p:sp>
      <p:sp>
        <p:nvSpPr>
          <p:cNvPr id="18" name="Shape 16"/>
          <p:cNvSpPr/>
          <p:nvPr/>
        </p:nvSpPr>
        <p:spPr>
          <a:xfrm>
            <a:off x="4572000" y="2788920"/>
            <a:ext cx="54864" cy="1097280"/>
          </a:xfrm>
          <a:prstGeom prst="rect">
            <a:avLst/>
          </a:prstGeom>
          <a:solidFill>
            <a:srgbClr val="14B8A6"/>
          </a:solidFill>
          <a:ln/>
        </p:spPr>
      </p:sp>
      <p:sp>
        <p:nvSpPr>
          <p:cNvPr id="19" name="Text 17"/>
          <p:cNvSpPr/>
          <p:nvPr/>
        </p:nvSpPr>
        <p:spPr>
          <a:xfrm>
            <a:off x="4800600" y="2971800"/>
            <a:ext cx="356616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Attenuation 12 dB → 6 dB</a:t>
            </a:r>
            <a:endParaRPr lang="en-US" sz="1300" dirty="0"/>
          </a:p>
        </p:txBody>
      </p:sp>
      <p:sp>
        <p:nvSpPr>
          <p:cNvPr id="20" name="Text 18"/>
          <p:cNvSpPr/>
          <p:nvPr/>
        </p:nvSpPr>
        <p:spPr>
          <a:xfrm>
            <a:off x="4800600" y="3291840"/>
            <a:ext cx="3566160" cy="502920"/>
          </a:xfrm>
          <a:prstGeom prst="rect">
            <a:avLst/>
          </a:prstGeom>
          <a:noFill/>
          <a:ln/>
        </p:spPr>
        <p:txBody>
          <a:bodyPr wrap="square" lIns="0" tIns="0" rIns="0" bIns="0" rtlCol="0" anchor="ctr"/>
          <a:lstStyle/>
          <a:p>
            <a:pPr indent="0" marL="0">
              <a:buNone/>
            </a:pPr>
            <a:r>
              <a:rPr lang="en-US" sz="2800" b="1" dirty="0">
                <a:solidFill>
                  <a:srgbClr val="1E293B"/>
                </a:solidFill>
                <a:latin typeface="Calibri" pitchFamily="34" charset="0"/>
                <a:ea typeface="Calibri" pitchFamily="34" charset="-122"/>
                <a:cs typeface="Calibri" pitchFamily="34" charset="-120"/>
              </a:rPr>
              <a:t>89.53 µA</a:t>
            </a:r>
            <a:endParaRPr lang="en-US" sz="2800" dirty="0"/>
          </a:p>
        </p:txBody>
      </p:sp>
      <p:sp>
        <p:nvSpPr>
          <p:cNvPr id="21" name="Text 19"/>
          <p:cNvSpPr/>
          <p:nvPr/>
        </p:nvSpPr>
        <p:spPr>
          <a:xfrm>
            <a:off x="457200" y="4069080"/>
            <a:ext cx="8229600" cy="365760"/>
          </a:xfrm>
          <a:prstGeom prst="rect">
            <a:avLst/>
          </a:prstGeom>
          <a:noFill/>
          <a:ln/>
        </p:spPr>
        <p:txBody>
          <a:bodyPr wrap="square" lIns="0" tIns="0" rIns="0" bIns="0" rtlCol="0" anchor="ctr"/>
          <a:lstStyle/>
          <a:p>
            <a:pPr algn="ctr" indent="0" marL="0">
              <a:buNone/>
            </a:pPr>
            <a:r>
              <a:rPr lang="en-US" sz="1400" i="1" dirty="0">
                <a:solidFill>
                  <a:srgbClr val="1F2937"/>
                </a:solidFill>
                <a:latin typeface="Calibri" pitchFamily="34" charset="0"/>
                <a:ea typeface="Calibri" pitchFamily="34" charset="-122"/>
                <a:cs typeface="Calibri" pitchFamily="34" charset="-120"/>
              </a:rPr>
              <a:t>My read (held loosely): ~74 µA chip-level bias just for having the ADC peripheral initialized.</a:t>
            </a:r>
            <a:endParaRPr lang="en-US" sz="1400" dirty="0"/>
          </a:p>
        </p:txBody>
      </p:sp>
      <p:sp>
        <p:nvSpPr>
          <p:cNvPr id="22" name="Text 20"/>
          <p:cNvSpPr/>
          <p:nvPr/>
        </p:nvSpPr>
        <p:spPr>
          <a:xfrm>
            <a:off x="457200" y="4389120"/>
            <a:ext cx="822960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Independent of channels, attenuation, or pin state.</a:t>
            </a:r>
            <a:endParaRPr lang="en-US" sz="1200" dirty="0"/>
          </a:p>
        </p:txBody>
      </p:sp>
      <p:sp>
        <p:nvSpPr>
          <p:cNvPr id="23" name="Text 21"/>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12</a:t>
            </a:r>
            <a:endParaRPr lang="en-US" sz="900" dirty="0"/>
          </a:p>
        </p:txBody>
      </p:sp>
      <p:sp>
        <p:nvSpPr>
          <p:cNvPr id="24" name="Text 22"/>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The fix — one wire + 8 lines of firmware</a:t>
            </a:r>
            <a:endParaRPr lang="en-US" sz="3000" dirty="0"/>
          </a:p>
        </p:txBody>
      </p:sp>
      <p:sp>
        <p:nvSpPr>
          <p:cNvPr id="4" name="Text 2"/>
          <p:cNvSpPr/>
          <p:nvPr/>
        </p:nvSpPr>
        <p:spPr>
          <a:xfrm>
            <a:off x="457200" y="1051560"/>
            <a:ext cx="822960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Move the 47 kΩ reference resistor's high side from 3V3 → GPIO2. Drive HIGH on wake, LOW with gpio_hold_en before sleep.</a:t>
            </a:r>
            <a:endParaRPr lang="en-US" sz="1300" dirty="0"/>
          </a:p>
        </p:txBody>
      </p:sp>
      <p:sp>
        <p:nvSpPr>
          <p:cNvPr id="5" name="Text 3"/>
          <p:cNvSpPr/>
          <p:nvPr/>
        </p:nvSpPr>
        <p:spPr>
          <a:xfrm>
            <a:off x="457200" y="1691640"/>
            <a:ext cx="41148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on_boot priority-800 lambda</a:t>
            </a:r>
            <a:endParaRPr lang="en-US" sz="1100" dirty="0"/>
          </a:p>
        </p:txBody>
      </p:sp>
      <p:sp>
        <p:nvSpPr>
          <p:cNvPr id="6" name="Shape 4"/>
          <p:cNvSpPr/>
          <p:nvPr/>
        </p:nvSpPr>
        <p:spPr>
          <a:xfrm>
            <a:off x="457200" y="2011680"/>
            <a:ext cx="4114800" cy="1188720"/>
          </a:xfrm>
          <a:prstGeom prst="rect">
            <a:avLst/>
          </a:prstGeom>
          <a:solidFill>
            <a:srgbClr val="F8FAFC"/>
          </a:solidFill>
          <a:ln w="6350">
            <a:solidFill>
              <a:srgbClr val="E2E8F0"/>
            </a:solidFill>
            <a:prstDash val="solid"/>
          </a:ln>
        </p:spPr>
      </p:sp>
      <p:sp>
        <p:nvSpPr>
          <p:cNvPr id="7" name="Text 5"/>
          <p:cNvSpPr/>
          <p:nvPr/>
        </p:nvSpPr>
        <p:spPr>
          <a:xfrm>
            <a:off x="594360" y="2103120"/>
            <a:ext cx="3840480" cy="1051560"/>
          </a:xfrm>
          <a:prstGeom prst="rect">
            <a:avLst/>
          </a:prstGeom>
          <a:noFill/>
          <a:ln/>
        </p:spPr>
        <p:txBody>
          <a:bodyPr wrap="square" lIns="0" tIns="0" rIns="0" bIns="0"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gpio_hold_dis((gpio_num_t)2);</a:t>
            </a:r>
            <a:endParaRPr lang="en-US" sz="1100" dirty="0"/>
          </a:p>
          <a:p>
            <a:pPr indent="0" marL="0">
              <a:buNone/>
            </a:pPr>
            <a:r>
              <a:rPr lang="en-US" sz="1100" dirty="0">
                <a:solidFill>
                  <a:srgbClr val="1E293B"/>
                </a:solidFill>
                <a:latin typeface="Consolas" pitchFamily="34" charset="0"/>
                <a:ea typeface="Consolas" pitchFamily="34" charset="-122"/>
                <a:cs typeface="Consolas" pitchFamily="34" charset="-120"/>
              </a:rPr>
              <a:t>gpio_reset_pin((gpio_num_t)2);</a:t>
            </a:r>
            <a:endParaRPr lang="en-US" sz="1100" dirty="0"/>
          </a:p>
          <a:p>
            <a:pPr indent="0" marL="0">
              <a:buNone/>
            </a:pPr>
            <a:r>
              <a:rPr lang="en-US" sz="1100" dirty="0">
                <a:solidFill>
                  <a:srgbClr val="1E293B"/>
                </a:solidFill>
                <a:latin typeface="Consolas" pitchFamily="34" charset="0"/>
                <a:ea typeface="Consolas" pitchFamily="34" charset="-122"/>
                <a:cs typeface="Consolas" pitchFamily="34" charset="-120"/>
              </a:rPr>
              <a:t>gpio_set_direction((gpio_num_t)2,</a:t>
            </a:r>
            <a:endParaRPr lang="en-US" sz="1100" dirty="0"/>
          </a:p>
          <a:p>
            <a:pPr indent="0" marL="0">
              <a:buNone/>
            </a:pPr>
            <a:r>
              <a:rPr lang="en-US" sz="1100" dirty="0">
                <a:solidFill>
                  <a:srgbClr val="1E293B"/>
                </a:solidFill>
                <a:latin typeface="Consolas" pitchFamily="34" charset="0"/>
                <a:ea typeface="Consolas" pitchFamily="34" charset="-122"/>
                <a:cs typeface="Consolas" pitchFamily="34" charset="-120"/>
              </a:rPr>
              <a:t>    GPIO_MODE_OUTPUT);</a:t>
            </a:r>
            <a:endParaRPr lang="en-US" sz="1100" dirty="0"/>
          </a:p>
          <a:p>
            <a:pPr indent="0" marL="0">
              <a:buNone/>
            </a:pPr>
            <a:r>
              <a:rPr lang="en-US" sz="1100" dirty="0">
                <a:solidFill>
                  <a:srgbClr val="1E293B"/>
                </a:solidFill>
                <a:latin typeface="Consolas" pitchFamily="34" charset="0"/>
                <a:ea typeface="Consolas" pitchFamily="34" charset="-122"/>
                <a:cs typeface="Consolas" pitchFamily="34" charset="-120"/>
              </a:rPr>
              <a:t>gpio_set_level((gpio_num_t)2, 1);</a:t>
            </a:r>
            <a:endParaRPr lang="en-US" sz="1100" dirty="0"/>
          </a:p>
        </p:txBody>
      </p:sp>
      <p:sp>
        <p:nvSpPr>
          <p:cNvPr id="8" name="Text 6"/>
          <p:cNvSpPr/>
          <p:nvPr/>
        </p:nvSpPr>
        <p:spPr>
          <a:xfrm>
            <a:off x="457200" y="3337560"/>
            <a:ext cx="4114800" cy="274320"/>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before deep_sleep.enter</a:t>
            </a:r>
            <a:endParaRPr lang="en-US" sz="1100" dirty="0"/>
          </a:p>
        </p:txBody>
      </p:sp>
      <p:sp>
        <p:nvSpPr>
          <p:cNvPr id="9" name="Shape 7"/>
          <p:cNvSpPr/>
          <p:nvPr/>
        </p:nvSpPr>
        <p:spPr>
          <a:xfrm>
            <a:off x="457200" y="3657600"/>
            <a:ext cx="4114800" cy="777240"/>
          </a:xfrm>
          <a:prstGeom prst="rect">
            <a:avLst/>
          </a:prstGeom>
          <a:solidFill>
            <a:srgbClr val="F8FAFC"/>
          </a:solidFill>
          <a:ln w="6350">
            <a:solidFill>
              <a:srgbClr val="E2E8F0"/>
            </a:solidFill>
            <a:prstDash val="solid"/>
          </a:ln>
        </p:spPr>
      </p:sp>
      <p:sp>
        <p:nvSpPr>
          <p:cNvPr id="10" name="Text 8"/>
          <p:cNvSpPr/>
          <p:nvPr/>
        </p:nvSpPr>
        <p:spPr>
          <a:xfrm>
            <a:off x="594360" y="3749040"/>
            <a:ext cx="3840480" cy="640080"/>
          </a:xfrm>
          <a:prstGeom prst="rect">
            <a:avLst/>
          </a:prstGeom>
          <a:noFill/>
          <a:ln/>
        </p:spPr>
        <p:txBody>
          <a:bodyPr wrap="square" lIns="0" tIns="0" rIns="0" bIns="0"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gpio_set_level((gpio_num_t)2, 0);</a:t>
            </a:r>
            <a:endParaRPr lang="en-US" sz="1100" dirty="0"/>
          </a:p>
          <a:p>
            <a:pPr indent="0" marL="0">
              <a:buNone/>
            </a:pPr>
            <a:r>
              <a:rPr lang="en-US" sz="1100" dirty="0">
                <a:solidFill>
                  <a:srgbClr val="1E293B"/>
                </a:solidFill>
                <a:latin typeface="Consolas" pitchFamily="34" charset="0"/>
                <a:ea typeface="Consolas" pitchFamily="34" charset="-122"/>
                <a:cs typeface="Consolas" pitchFamily="34" charset="-120"/>
              </a:rPr>
              <a:t>gpio_hold_en((gpio_num_t)2);</a:t>
            </a:r>
            <a:endParaRPr lang="en-US" sz="1100" dirty="0"/>
          </a:p>
        </p:txBody>
      </p:sp>
      <p:sp>
        <p:nvSpPr>
          <p:cNvPr id="11" name="Shape 9"/>
          <p:cNvSpPr/>
          <p:nvPr/>
        </p:nvSpPr>
        <p:spPr>
          <a:xfrm>
            <a:off x="4846320" y="1691640"/>
            <a:ext cx="3840480" cy="2743200"/>
          </a:xfrm>
          <a:prstGeom prst="rect">
            <a:avLst/>
          </a:prstGeom>
          <a:solidFill>
            <a:srgbClr val="F1F5F9"/>
          </a:solidFill>
          <a:ln w="12700">
            <a:solidFill>
              <a:srgbClr val="E2E8F0"/>
            </a:solidFill>
            <a:prstDash val="dash"/>
          </a:ln>
        </p:spPr>
      </p:sp>
      <p:sp>
        <p:nvSpPr>
          <p:cNvPr id="12" name="Text 10"/>
          <p:cNvSpPr/>
          <p:nvPr/>
        </p:nvSpPr>
        <p:spPr>
          <a:xfrm>
            <a:off x="5029200" y="2880360"/>
            <a:ext cx="3474720" cy="36576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Insert: PPK2 trace — 89.51 µA selection (after GPIO-gating)</a:t>
            </a:r>
            <a:endParaRPr lang="en-US" sz="1100" dirty="0"/>
          </a:p>
        </p:txBody>
      </p:sp>
      <p:sp>
        <p:nvSpPr>
          <p:cNvPr id="13" name="Text 11"/>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12</a:t>
            </a:r>
            <a:endParaRPr lang="en-US" sz="900" dirty="0"/>
          </a:p>
        </p:txBody>
      </p:sp>
      <p:sp>
        <p:nvSpPr>
          <p:cNvPr id="14" name="Text 12"/>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457200" y="365760"/>
            <a:ext cx="8229600" cy="640080"/>
          </a:xfrm>
          <a:prstGeom prst="rect">
            <a:avLst/>
          </a:prstGeom>
          <a:noFill/>
          <a:ln/>
        </p:spPr>
        <p:txBody>
          <a:bodyPr wrap="square" lIns="0" tIns="0" rIns="0" bIns="0" rtlCol="0" anchor="ctr"/>
          <a:lstStyle/>
          <a:p>
            <a:pPr indent="0" marL="0">
              <a:buNone/>
            </a:pPr>
            <a:r>
              <a:rPr lang="en-US" sz="3800" b="1" dirty="0">
                <a:solidFill>
                  <a:srgbClr val="1E293B"/>
                </a:solidFill>
                <a:latin typeface="Calibri" pitchFamily="34" charset="0"/>
                <a:ea typeface="Calibri" pitchFamily="34" charset="-122"/>
                <a:cs typeface="Calibri" pitchFamily="34" charset="-120"/>
              </a:rPr>
              <a:t>Runtime impact</a:t>
            </a:r>
            <a:endParaRPr lang="en-US" sz="3800" dirty="0"/>
          </a:p>
        </p:txBody>
      </p:sp>
      <p:sp>
        <p:nvSpPr>
          <p:cNvPr id="4" name="Text 2"/>
          <p:cNvSpPr/>
          <p:nvPr/>
        </p:nvSpPr>
        <p:spPr>
          <a:xfrm>
            <a:off x="457200" y="1097280"/>
            <a:ext cx="8229600" cy="4572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Same L91 stack, same 30-minute cadence, single wire move + 8 lines of firmware.</a:t>
            </a:r>
            <a:endParaRPr lang="en-US" sz="1500" dirty="0"/>
          </a:p>
        </p:txBody>
      </p:sp>
      <p:sp>
        <p:nvSpPr>
          <p:cNvPr id="5" name="Shape 3"/>
          <p:cNvSpPr/>
          <p:nvPr/>
        </p:nvSpPr>
        <p:spPr>
          <a:xfrm>
            <a:off x="457200" y="1828800"/>
            <a:ext cx="3931920" cy="2194560"/>
          </a:xfrm>
          <a:prstGeom prst="rect">
            <a:avLst/>
          </a:prstGeom>
          <a:solidFill>
            <a:srgbClr val="F1F5F9"/>
          </a:solidFill>
          <a:ln w="6350">
            <a:solidFill>
              <a:srgbClr val="E2E8F0"/>
            </a:solidFill>
            <a:prstDash val="solid"/>
          </a:ln>
        </p:spPr>
      </p:sp>
      <p:sp>
        <p:nvSpPr>
          <p:cNvPr id="6" name="Shape 4"/>
          <p:cNvSpPr/>
          <p:nvPr/>
        </p:nvSpPr>
        <p:spPr>
          <a:xfrm>
            <a:off x="457200" y="1828800"/>
            <a:ext cx="73152" cy="2194560"/>
          </a:xfrm>
          <a:prstGeom prst="rect">
            <a:avLst/>
          </a:prstGeom>
          <a:solidFill>
            <a:srgbClr val="F59E0B"/>
          </a:solidFill>
          <a:ln/>
        </p:spPr>
      </p:sp>
      <p:sp>
        <p:nvSpPr>
          <p:cNvPr id="7" name="Text 5"/>
          <p:cNvSpPr/>
          <p:nvPr/>
        </p:nvSpPr>
        <p:spPr>
          <a:xfrm>
            <a:off x="640080" y="1965960"/>
            <a:ext cx="365760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BEFORE</a:t>
            </a:r>
            <a:endParaRPr lang="en-US" sz="1100" dirty="0"/>
          </a:p>
        </p:txBody>
      </p:sp>
      <p:sp>
        <p:nvSpPr>
          <p:cNvPr id="8" name="Text 6"/>
          <p:cNvSpPr/>
          <p:nvPr/>
        </p:nvSpPr>
        <p:spPr>
          <a:xfrm>
            <a:off x="640080" y="2286000"/>
            <a:ext cx="3657600" cy="914400"/>
          </a:xfrm>
          <a:prstGeom prst="rect">
            <a:avLst/>
          </a:prstGeom>
          <a:noFill/>
          <a:ln/>
        </p:spPr>
        <p:txBody>
          <a:bodyPr wrap="square" lIns="0" tIns="0" rIns="0" bIns="0" rtlCol="0" anchor="ctr"/>
          <a:lstStyle/>
          <a:p>
            <a:pPr indent="0" marL="0">
              <a:buNone/>
            </a:pPr>
            <a:r>
              <a:rPr lang="en-US" sz="5600" b="1" dirty="0">
                <a:solidFill>
                  <a:srgbClr val="F59E0B"/>
                </a:solidFill>
                <a:latin typeface="Calibri" pitchFamily="34" charset="0"/>
                <a:ea typeface="Calibri" pitchFamily="34" charset="-122"/>
                <a:cs typeface="Calibri" pitchFamily="34" charset="-120"/>
              </a:rPr>
              <a:t>287 days</a:t>
            </a:r>
            <a:endParaRPr lang="en-US" sz="5600" dirty="0"/>
          </a:p>
        </p:txBody>
      </p:sp>
      <p:sp>
        <p:nvSpPr>
          <p:cNvPr id="9" name="Text 7"/>
          <p:cNvSpPr/>
          <p:nvPr/>
        </p:nvSpPr>
        <p:spPr>
          <a:xfrm>
            <a:off x="640080" y="3291840"/>
            <a:ext cx="3657600" cy="3200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381 µA sleep, deployed today</a:t>
            </a:r>
            <a:endParaRPr lang="en-US" sz="1300" dirty="0"/>
          </a:p>
        </p:txBody>
      </p:sp>
      <p:sp>
        <p:nvSpPr>
          <p:cNvPr id="10" name="Text 8"/>
          <p:cNvSpPr/>
          <p:nvPr/>
        </p:nvSpPr>
        <p:spPr>
          <a:xfrm>
            <a:off x="640080" y="3611880"/>
            <a:ext cx="36576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Clears 138-day window by 2×</a:t>
            </a:r>
            <a:endParaRPr lang="en-US" sz="1200" dirty="0"/>
          </a:p>
        </p:txBody>
      </p:sp>
      <p:sp>
        <p:nvSpPr>
          <p:cNvPr id="11" name="Shape 9"/>
          <p:cNvSpPr/>
          <p:nvPr/>
        </p:nvSpPr>
        <p:spPr>
          <a:xfrm>
            <a:off x="4754880" y="1828800"/>
            <a:ext cx="3931920" cy="2194560"/>
          </a:xfrm>
          <a:prstGeom prst="rect">
            <a:avLst/>
          </a:prstGeom>
          <a:solidFill>
            <a:srgbClr val="F1F5F9"/>
          </a:solidFill>
          <a:ln w="6350">
            <a:solidFill>
              <a:srgbClr val="E2E8F0"/>
            </a:solidFill>
            <a:prstDash val="solid"/>
          </a:ln>
        </p:spPr>
      </p:sp>
      <p:sp>
        <p:nvSpPr>
          <p:cNvPr id="12" name="Shape 10"/>
          <p:cNvSpPr/>
          <p:nvPr/>
        </p:nvSpPr>
        <p:spPr>
          <a:xfrm>
            <a:off x="4754880" y="1828800"/>
            <a:ext cx="73152" cy="2194560"/>
          </a:xfrm>
          <a:prstGeom prst="rect">
            <a:avLst/>
          </a:prstGeom>
          <a:solidFill>
            <a:srgbClr val="14B8A6"/>
          </a:solidFill>
          <a:ln/>
        </p:spPr>
      </p:sp>
      <p:sp>
        <p:nvSpPr>
          <p:cNvPr id="13" name="Text 11"/>
          <p:cNvSpPr/>
          <p:nvPr/>
        </p:nvSpPr>
        <p:spPr>
          <a:xfrm>
            <a:off x="4937760" y="1965960"/>
            <a:ext cx="3657600" cy="27432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AFTER (v2.1)</a:t>
            </a:r>
            <a:endParaRPr lang="en-US" sz="1100" dirty="0"/>
          </a:p>
        </p:txBody>
      </p:sp>
      <p:sp>
        <p:nvSpPr>
          <p:cNvPr id="14" name="Text 12"/>
          <p:cNvSpPr/>
          <p:nvPr/>
        </p:nvSpPr>
        <p:spPr>
          <a:xfrm>
            <a:off x="4937760" y="2286000"/>
            <a:ext cx="3657600" cy="914400"/>
          </a:xfrm>
          <a:prstGeom prst="rect">
            <a:avLst/>
          </a:prstGeom>
          <a:noFill/>
          <a:ln/>
        </p:spPr>
        <p:txBody>
          <a:bodyPr wrap="square" lIns="0" tIns="0" rIns="0" bIns="0" rtlCol="0" anchor="ctr"/>
          <a:lstStyle/>
          <a:p>
            <a:pPr indent="0" marL="0">
              <a:buNone/>
            </a:pPr>
            <a:r>
              <a:rPr lang="en-US" sz="5600" b="1" dirty="0">
                <a:solidFill>
                  <a:srgbClr val="14B8A6"/>
                </a:solidFill>
                <a:latin typeface="Calibri" pitchFamily="34" charset="0"/>
                <a:ea typeface="Calibri" pitchFamily="34" charset="-122"/>
                <a:cs typeface="Calibri" pitchFamily="34" charset="-120"/>
              </a:rPr>
              <a:t>~668 days</a:t>
            </a:r>
            <a:endParaRPr lang="en-US" sz="5600" dirty="0"/>
          </a:p>
        </p:txBody>
      </p:sp>
      <p:sp>
        <p:nvSpPr>
          <p:cNvPr id="15" name="Text 13"/>
          <p:cNvSpPr/>
          <p:nvPr/>
        </p:nvSpPr>
        <p:spPr>
          <a:xfrm>
            <a:off x="4937760" y="3291840"/>
            <a:ext cx="3657600" cy="3200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89 µA sleep, GPIO-gated divider</a:t>
            </a:r>
            <a:endParaRPr lang="en-US" sz="1300" dirty="0"/>
          </a:p>
        </p:txBody>
      </p:sp>
      <p:sp>
        <p:nvSpPr>
          <p:cNvPr id="16" name="Text 14"/>
          <p:cNvSpPr/>
          <p:nvPr/>
        </p:nvSpPr>
        <p:spPr>
          <a:xfrm>
            <a:off x="4937760" y="3611880"/>
            <a:ext cx="3657600" cy="320040"/>
          </a:xfrm>
          <a:prstGeom prst="rect">
            <a:avLst/>
          </a:prstGeom>
          <a:noFill/>
          <a:ln/>
        </p:spPr>
        <p:txBody>
          <a:bodyPr wrap="square" lIns="0" tIns="0" rIns="0" bIns="0" rtlCol="0" anchor="ctr"/>
          <a:lstStyle/>
          <a:p>
            <a:pPr indent="0" marL="0">
              <a:buNone/>
            </a:pPr>
            <a:r>
              <a:rPr lang="en-US" sz="1200" i="1" dirty="0">
                <a:solidFill>
                  <a:srgbClr val="0F766E"/>
                </a:solidFill>
                <a:latin typeface="Calibri" pitchFamily="34" charset="0"/>
                <a:ea typeface="Calibri" pitchFamily="34" charset="-122"/>
                <a:cs typeface="Calibri" pitchFamily="34" charset="-120"/>
              </a:rPr>
              <a:t>2.3× more deployment runtime</a:t>
            </a:r>
            <a:endParaRPr lang="en-US" sz="1200" dirty="0"/>
          </a:p>
        </p:txBody>
      </p:sp>
      <p:sp>
        <p:nvSpPr>
          <p:cNvPr id="17" name="Text 15"/>
          <p:cNvSpPr/>
          <p:nvPr/>
        </p:nvSpPr>
        <p:spPr>
          <a:xfrm>
            <a:off x="457200" y="4297680"/>
            <a:ext cx="822960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Hypothetical full ADC deinit before sleep → ~1,000+ days. Untested. Next experiment if anyone wants it.</a:t>
            </a:r>
            <a:endParaRPr lang="en-US" sz="1200" dirty="0"/>
          </a:p>
        </p:txBody>
      </p:sp>
      <p:sp>
        <p:nvSpPr>
          <p:cNvPr id="18" name="Text 16"/>
          <p:cNvSpPr/>
          <p:nvPr/>
        </p:nvSpPr>
        <p:spPr>
          <a:xfrm>
            <a:off x="8229600" y="480060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12</a:t>
            </a:r>
            <a:endParaRPr lang="en-US" sz="900" dirty="0"/>
          </a:p>
        </p:txBody>
      </p:sp>
      <p:sp>
        <p:nvSpPr>
          <p:cNvPr id="19" name="Text 17"/>
          <p:cNvSpPr/>
          <p:nvPr/>
        </p:nvSpPr>
        <p:spPr>
          <a:xfrm>
            <a:off x="274320" y="4800600"/>
            <a:ext cx="3657600"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Pool float deep sleep debug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4B8A6"/>
          </a:solidFill>
          <a:ln/>
        </p:spPr>
      </p:sp>
      <p:sp>
        <p:nvSpPr>
          <p:cNvPr id="3" name="Text 1"/>
          <p:cNvSpPr/>
          <p:nvPr/>
        </p:nvSpPr>
        <p:spPr>
          <a:xfrm>
            <a:off x="548640" y="457200"/>
            <a:ext cx="8229600" cy="731520"/>
          </a:xfrm>
          <a:prstGeom prst="rect">
            <a:avLst/>
          </a:prstGeom>
          <a:noFill/>
          <a:ln/>
        </p:spPr>
        <p:txBody>
          <a:bodyPr wrap="square" lIns="0" tIns="0" rIns="0" bIns="0" rtlCol="0" anchor="ctr"/>
          <a:lstStyle/>
          <a:p>
            <a:pPr indent="0" marL="0">
              <a:buNone/>
            </a:pPr>
            <a:r>
              <a:rPr lang="en-US" sz="4400" b="1" dirty="0">
                <a:solidFill>
                  <a:srgbClr val="F1F5F9"/>
                </a:solidFill>
                <a:latin typeface="Calibri" pitchFamily="34" charset="0"/>
                <a:ea typeface="Calibri" pitchFamily="34" charset="-122"/>
                <a:cs typeface="Calibri" pitchFamily="34" charset="-120"/>
              </a:rPr>
              <a:t>Takeaways</a:t>
            </a:r>
            <a:endParaRPr lang="en-US" sz="4400" dirty="0"/>
          </a:p>
        </p:txBody>
      </p:sp>
      <p:sp>
        <p:nvSpPr>
          <p:cNvPr id="4" name="Shape 2"/>
          <p:cNvSpPr/>
          <p:nvPr/>
        </p:nvSpPr>
        <p:spPr>
          <a:xfrm>
            <a:off x="594360" y="1536192"/>
            <a:ext cx="146304" cy="146304"/>
          </a:xfrm>
          <a:prstGeom prst="ellipse">
            <a:avLst/>
          </a:prstGeom>
          <a:solidFill>
            <a:srgbClr val="14B8A6"/>
          </a:solidFill>
          <a:ln/>
        </p:spPr>
      </p:sp>
      <p:sp>
        <p:nvSpPr>
          <p:cNvPr id="5" name="Text 3"/>
          <p:cNvSpPr/>
          <p:nvPr/>
        </p:nvSpPr>
        <p:spPr>
          <a:xfrm>
            <a:off x="868680" y="1463040"/>
            <a:ext cx="7863840" cy="365760"/>
          </a:xfrm>
          <a:prstGeom prst="rect">
            <a:avLst/>
          </a:prstGeom>
          <a:noFill/>
          <a:ln/>
        </p:spPr>
        <p:txBody>
          <a:bodyPr wrap="square" lIns="0" tIns="0" rIns="0" bIns="0"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Forum wisdom needs verification.</a:t>
            </a:r>
            <a:endParaRPr lang="en-US" sz="1800" dirty="0"/>
          </a:p>
        </p:txBody>
      </p:sp>
      <p:sp>
        <p:nvSpPr>
          <p:cNvPr id="6" name="Text 4"/>
          <p:cNvSpPr/>
          <p:nvPr/>
        </p:nvSpPr>
        <p:spPr>
          <a:xfrm>
            <a:off x="868680" y="1828800"/>
            <a:ext cx="786384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The voltage-trap theory sounded right and the math nearly fit. It was still wrong.</a:t>
            </a:r>
            <a:endParaRPr lang="en-US" sz="1400" dirty="0"/>
          </a:p>
        </p:txBody>
      </p:sp>
      <p:sp>
        <p:nvSpPr>
          <p:cNvPr id="7" name="Shape 5"/>
          <p:cNvSpPr/>
          <p:nvPr/>
        </p:nvSpPr>
        <p:spPr>
          <a:xfrm>
            <a:off x="594360" y="2313432"/>
            <a:ext cx="146304" cy="146304"/>
          </a:xfrm>
          <a:prstGeom prst="ellipse">
            <a:avLst/>
          </a:prstGeom>
          <a:solidFill>
            <a:srgbClr val="14B8A6"/>
          </a:solidFill>
          <a:ln/>
        </p:spPr>
      </p:sp>
      <p:sp>
        <p:nvSpPr>
          <p:cNvPr id="8" name="Text 6"/>
          <p:cNvSpPr/>
          <p:nvPr/>
        </p:nvSpPr>
        <p:spPr>
          <a:xfrm>
            <a:off x="868680" y="2240280"/>
            <a:ext cx="7863840" cy="365760"/>
          </a:xfrm>
          <a:prstGeom prst="rect">
            <a:avLst/>
          </a:prstGeom>
          <a:noFill/>
          <a:ln/>
        </p:spPr>
        <p:txBody>
          <a:bodyPr wrap="square" lIns="0" tIns="0" rIns="0" bIns="0"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Build a controlled matrix.</a:t>
            </a:r>
            <a:endParaRPr lang="en-US" sz="1800" dirty="0"/>
          </a:p>
        </p:txBody>
      </p:sp>
      <p:sp>
        <p:nvSpPr>
          <p:cNvPr id="9" name="Text 7"/>
          <p:cNvSpPr/>
          <p:nvPr/>
        </p:nvSpPr>
        <p:spPr>
          <a:xfrm>
            <a:off x="868680" y="2606040"/>
            <a:ext cx="786384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One variable per test. Three numbers (16, 89, 333) told the story cleanly.</a:t>
            </a:r>
            <a:endParaRPr lang="en-US" sz="1400" dirty="0"/>
          </a:p>
        </p:txBody>
      </p:sp>
      <p:sp>
        <p:nvSpPr>
          <p:cNvPr id="10" name="Shape 8"/>
          <p:cNvSpPr/>
          <p:nvPr/>
        </p:nvSpPr>
        <p:spPr>
          <a:xfrm>
            <a:off x="594360" y="3090672"/>
            <a:ext cx="146304" cy="146304"/>
          </a:xfrm>
          <a:prstGeom prst="ellipse">
            <a:avLst/>
          </a:prstGeom>
          <a:solidFill>
            <a:srgbClr val="14B8A6"/>
          </a:solidFill>
          <a:ln/>
        </p:spPr>
      </p:sp>
      <p:sp>
        <p:nvSpPr>
          <p:cNvPr id="11" name="Text 9"/>
          <p:cNvSpPr/>
          <p:nvPr/>
        </p:nvSpPr>
        <p:spPr>
          <a:xfrm>
            <a:off x="868680" y="3017520"/>
            <a:ext cx="7863840" cy="365760"/>
          </a:xfrm>
          <a:prstGeom prst="rect">
            <a:avLst/>
          </a:prstGeom>
          <a:noFill/>
          <a:ln/>
        </p:spPr>
        <p:txBody>
          <a:bodyPr wrap="square" lIns="0" tIns="0" rIns="0" bIns="0"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The right tool matters.</a:t>
            </a:r>
            <a:endParaRPr lang="en-US" sz="1800" dirty="0"/>
          </a:p>
        </p:txBody>
      </p:sp>
      <p:sp>
        <p:nvSpPr>
          <p:cNvPr id="12" name="Text 10"/>
          <p:cNvSpPr/>
          <p:nvPr/>
        </p:nvSpPr>
        <p:spPr>
          <a:xfrm>
            <a:off x="868680" y="3383280"/>
            <a:ext cx="786384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PPK2 resolves sub-µA differences. A multimeter would have missed the 15-vs-89 distinction entirely.</a:t>
            </a:r>
            <a:endParaRPr lang="en-US" sz="1400" dirty="0"/>
          </a:p>
        </p:txBody>
      </p:sp>
      <p:sp>
        <p:nvSpPr>
          <p:cNvPr id="13" name="Shape 11"/>
          <p:cNvSpPr/>
          <p:nvPr/>
        </p:nvSpPr>
        <p:spPr>
          <a:xfrm>
            <a:off x="594360" y="3867912"/>
            <a:ext cx="146304" cy="146304"/>
          </a:xfrm>
          <a:prstGeom prst="ellipse">
            <a:avLst/>
          </a:prstGeom>
          <a:solidFill>
            <a:srgbClr val="14B8A6"/>
          </a:solidFill>
          <a:ln/>
        </p:spPr>
      </p:sp>
      <p:sp>
        <p:nvSpPr>
          <p:cNvPr id="14" name="Text 12"/>
          <p:cNvSpPr/>
          <p:nvPr/>
        </p:nvSpPr>
        <p:spPr>
          <a:xfrm>
            <a:off x="868680" y="3794760"/>
            <a:ext cx="7863840" cy="365760"/>
          </a:xfrm>
          <a:prstGeom prst="rect">
            <a:avLst/>
          </a:prstGeom>
          <a:noFill/>
          <a:ln/>
        </p:spPr>
        <p:txBody>
          <a:bodyPr wrap="square" lIns="0" tIns="0" rIns="0" bIns="0"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Hold your conclusions loosely.</a:t>
            </a:r>
            <a:endParaRPr lang="en-US" sz="1800" dirty="0"/>
          </a:p>
        </p:txBody>
      </p:sp>
      <p:sp>
        <p:nvSpPr>
          <p:cNvPr id="15" name="Text 13"/>
          <p:cNvSpPr/>
          <p:nvPr/>
        </p:nvSpPr>
        <p:spPr>
          <a:xfrm>
            <a:off x="868680" y="4160520"/>
            <a:ext cx="786384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The facts (measurements) are solid. The explanations (ADC frontend bias) are inferred. Be honest about the difference.</a:t>
            </a:r>
            <a:endParaRPr lang="en-US" sz="1400" dirty="0"/>
          </a:p>
        </p:txBody>
      </p:sp>
      <p:sp>
        <p:nvSpPr>
          <p:cNvPr id="16" name="Text 14"/>
          <p:cNvSpPr/>
          <p:nvPr/>
        </p:nvSpPr>
        <p:spPr>
          <a:xfrm>
            <a:off x="548640" y="4572000"/>
            <a:ext cx="8229600" cy="365760"/>
          </a:xfrm>
          <a:prstGeom prst="rect">
            <a:avLst/>
          </a:prstGeom>
          <a:noFill/>
          <a:ln/>
        </p:spPr>
        <p:txBody>
          <a:bodyPr wrap="square" lIns="0" tIns="0" rIns="0" bIns="0" rtlCol="0" anchor="ctr"/>
          <a:lstStyle/>
          <a:p>
            <a:pPr indent="0" marL="0">
              <a:buNone/>
            </a:pPr>
            <a:r>
              <a:rPr lang="en-US" sz="1600" i="1" dirty="0">
                <a:solidFill>
                  <a:srgbClr val="14B8A6"/>
                </a:solidFill>
                <a:latin typeface="Calibri" pitchFamily="34" charset="0"/>
                <a:ea typeface="Calibri" pitchFamily="34" charset="-122"/>
                <a:cs typeface="Calibri" pitchFamily="34" charset="-120"/>
              </a:rPr>
              <a:t>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Chasing 365 microamps - XIAO ESP32-C6 deep sleep debug</dc:title>
  <dc:subject>PptxGenJS Presentation</dc:subject>
  <dc:creator>Scott Dube</dc:creator>
  <cp:lastModifiedBy>Scott Dube</cp:lastModifiedBy>
  <cp:revision>1</cp:revision>
  <dcterms:created xsi:type="dcterms:W3CDTF">2026-05-27T15:27:31Z</dcterms:created>
  <dcterms:modified xsi:type="dcterms:W3CDTF">2026-05-27T15:27:31Z</dcterms:modified>
</cp:coreProperties>
</file>